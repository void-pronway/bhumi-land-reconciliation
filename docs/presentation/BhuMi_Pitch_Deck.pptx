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 seconds. Introduce BhuMi and the P4 category. We compare the ownership that a documented transaction supports with the mutation that follows. This is a synthetic prototype supporting human review, not an official government service. The logo is supplied by the project owner.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35 seconds. Explain the separation between transaction records and subsequent ownership updates. The World Bank diagnostic provides institutional context for linking registration and land-record updates; it does not validate our prototype. Our specific demonstration is entirely fictional. The key question is not only whether the total area is correct, but whether each person retains the interest supported by the transaction.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 seconds. Lead with the distinction: this is an ownership reconciliation system, not a generic fraud-score dashboard. Exact arithmetic and event replay provide an independent expected state. Findings explain who differs, by how much and according to which records. Reviewers make decisions; BhuMi does not approve mutations or declare legal ownership.</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35 seconds. Start from a sourced baseline and apply documented events in effective-date and explicit sequence order. Check that no sender transfers more than their recorded interest. Compare the reconstructed state to a separate mutation snapshot. Missing evidence or conflicting order stops a confident match. Corrections create new snapshots and runs; old calculations remain available.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60 seconds. Open DEMO-P4-011 in the running application for this 100-decimal example. The prompt also includes DEMO-P4-001, a separate 120-decimal example with a 15-decimal discrepancy; do not mix them. In this slide, Rahim transfers 25, so expected interests are 35, 40 and 25. The mutation reports 35, 30 and 35. Both totals equal 100, but Karim is short 10 and Nabila has an unsupported extra 10. Run the actual engine and point to the owner differences and source references. A revised snapshot with shares A=7/20, B=2/5 and D=1/4 should match while the prior conflicting run remains.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 seconds. Summarize implemented features, not planned integrations. The nine rule categories cover exact accounting, mutation linkage and chain consistency. Explain that a revised snapshot generates a new run. Resolving a case changes workflow status, not the original calculation. Show a report or review queue during a live demo if time allows.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25 seconds. The exact engine is isolated from UI and database code. PGlite runs real PostgreSQL in-process with durable storage; this is not a hosted Supabase integration. State only measured results: 27 unit tests, 3 browser tests, 11 scenario expectations, and a restart-persistence check passed. The production build, lint and TypeScript checks passed. These results are synthetic validation, not proof of national-scale accuracy. Remote deployment status has not been verified.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35 seconds. Frame benefits as potential, not measured savings or adopted policy. The next step is domain-expert review and an authorized institutional pilot, not unauthorized government access. A broader rollout needs institutional identity, hosted PostgreSQL, data protection and approved interfaces. Do not claim current government partnerships, national scalability or integrations. We aim to complement existing e-mutation services.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 seconds. Replace all placeholders with confirmed team and mentor details before submission. Invite the judges to inspect the repository and try the synthetic demo. Disclose ChatGPT GPT-6 and OpenAI Codex assistance; the team must understand, review and demonstrate the work. Close by asking for feedback on reconciliation rules and authorized pilot requirements. Total suggested speaking time across the nine slides is five minutes. Prepare for a separate three-minute Q&amp;A.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cuments1.worldbank.org/curated/en/099359509012228968/pdf/IDU05ea6dbd70b70e04c7f0b5ef06fbc25ad4670.pdf" TargetMode="Externa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void-pronway/BhuMi-Land-Reconciliation" TargetMode="External"/><Relationship Id="rId3"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12F40"/>
        </a:solidFill>
        <a:effectLst/>
      </p:bgPr>
    </p:bg>
    <p:spTree>
      <p:nvGrpSpPr>
        <p:cNvPr id="1" name=""/>
        <p:cNvGrpSpPr/>
        <p:nvPr/>
      </p:nvGrpSpPr>
      <p:grpSpPr/>
      <p:sp>
        <p:nvSpPr>
          <p:cNvPr id="2" name="TextBox 1"/>
          <p:cNvSpPr txBox="1"/>
          <p:nvPr/>
        </p:nvSpPr>
        <p:spPr>
          <a:xfrm>
            <a:off x="594360" y="292608"/>
            <a:ext cx="10058400" cy="228600"/>
          </a:xfrm>
          <a:prstGeom prst="rect">
            <a:avLst/>
          </a:prstGeom>
          <a:noFill/>
        </p:spPr>
        <p:txBody>
          <a:bodyPr wrap="square" lIns="0" rIns="0" tIns="0" bIns="0">
            <a:spAutoFit/>
          </a:bodyPr>
          <a:lstStyle/>
          <a:p>
            <a:pPr>
              <a:spcAft>
                <a:spcPts val="800"/>
              </a:spcAft>
              <a:defRPr sz="1000" b="1">
                <a:solidFill>
                  <a:srgbClr val="8DD5C2"/>
                </a:solidFill>
                <a:latin typeface="Arial"/>
              </a:defRPr>
            </a:pPr>
            <a:r>
              <a:t>LANDTECH INNOVATION HACKATHON 2026</a:t>
            </a:r>
          </a:p>
        </p:txBody>
      </p:sp>
      <p:sp>
        <p:nvSpPr>
          <p:cNvPr id="3" name="Rectangle 2"/>
          <p:cNvSpPr/>
          <p:nvPr/>
        </p:nvSpPr>
        <p:spPr>
          <a:xfrm>
            <a:off x="594360" y="6437376"/>
            <a:ext cx="11000232" cy="10972"/>
          </a:xfrm>
          <a:prstGeom prst="rect">
            <a:avLst/>
          </a:prstGeom>
          <a:solidFill>
            <a:srgbClr val="3653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6537960"/>
            <a:ext cx="8229600" cy="182880"/>
          </a:xfrm>
          <a:prstGeom prst="rect">
            <a:avLst/>
          </a:prstGeom>
          <a:noFill/>
        </p:spPr>
        <p:txBody>
          <a:bodyPr wrap="square" lIns="0" rIns="0" tIns="0" bIns="0">
            <a:spAutoFit/>
          </a:bodyPr>
          <a:lstStyle/>
          <a:p>
            <a:pPr>
              <a:spcAft>
                <a:spcPts val="800"/>
              </a:spcAft>
              <a:defRPr sz="800" b="0">
                <a:solidFill>
                  <a:srgbClr val="A5BFC8"/>
                </a:solidFill>
                <a:latin typeface="Arial"/>
              </a:defRPr>
            </a:pPr>
            <a:r>
              <a:t>BHUMI  /  LANDTECH 2026  /  P4 — SMART E-MUTATION &amp; REGISTRY</a:t>
            </a:r>
          </a:p>
        </p:txBody>
      </p:sp>
      <p:sp>
        <p:nvSpPr>
          <p:cNvPr id="5" name="TextBox 4"/>
          <p:cNvSpPr txBox="1"/>
          <p:nvPr/>
        </p:nvSpPr>
        <p:spPr>
          <a:xfrm>
            <a:off x="10972800" y="6510528"/>
            <a:ext cx="594360" cy="228600"/>
          </a:xfrm>
          <a:prstGeom prst="rect">
            <a:avLst/>
          </a:prstGeom>
          <a:noFill/>
        </p:spPr>
        <p:txBody>
          <a:bodyPr wrap="square" lIns="0" rIns="0" tIns="0" bIns="0">
            <a:spAutoFit/>
          </a:bodyPr>
          <a:lstStyle/>
          <a:p>
            <a:pPr algn="r">
              <a:spcAft>
                <a:spcPts val="800"/>
              </a:spcAft>
              <a:defRPr sz="900" b="0">
                <a:solidFill>
                  <a:srgbClr val="A5BFC8"/>
                </a:solidFill>
                <a:latin typeface="Arial"/>
              </a:defRPr>
            </a:pPr>
            <a:r>
              <a:t>01 / 09</a:t>
            </a:r>
          </a:p>
        </p:txBody>
      </p:sp>
      <p:pic>
        <p:nvPicPr>
          <p:cNvPr id="6" name="Picture 5" descr="bhumi-symbol.png"/>
          <p:cNvPicPr>
            <a:picLocks noChangeAspect="1"/>
          </p:cNvPicPr>
          <p:nvPr/>
        </p:nvPicPr>
        <p:blipFill>
          <a:blip r:embed="rId2"/>
          <a:stretch>
            <a:fillRect/>
          </a:stretch>
        </p:blipFill>
        <p:spPr>
          <a:xfrm>
            <a:off x="685800" y="868680"/>
            <a:ext cx="411480" cy="411480"/>
          </a:xfrm>
          <a:prstGeom prst="rect">
            <a:avLst/>
          </a:prstGeom>
        </p:spPr>
      </p:pic>
      <p:sp>
        <p:nvSpPr>
          <p:cNvPr id="7" name="TextBox 6"/>
          <p:cNvSpPr txBox="1"/>
          <p:nvPr/>
        </p:nvSpPr>
        <p:spPr>
          <a:xfrm>
            <a:off x="1161288" y="832103"/>
            <a:ext cx="1828800" cy="457200"/>
          </a:xfrm>
          <a:prstGeom prst="rect">
            <a:avLst/>
          </a:prstGeom>
          <a:noFill/>
        </p:spPr>
        <p:txBody>
          <a:bodyPr wrap="square" lIns="0" rIns="0" tIns="0" bIns="0">
            <a:spAutoFit/>
          </a:bodyPr>
          <a:lstStyle/>
          <a:p>
            <a:pPr>
              <a:spcAft>
                <a:spcPts val="800"/>
              </a:spcAft>
              <a:defRPr sz="2500" b="1">
                <a:solidFill>
                  <a:srgbClr val="FFFFFF"/>
                </a:solidFill>
                <a:latin typeface="Arial"/>
              </a:defRPr>
            </a:pPr>
            <a:r>
              <a:t>BhuMi</a:t>
            </a:r>
          </a:p>
        </p:txBody>
      </p:sp>
      <p:sp>
        <p:nvSpPr>
          <p:cNvPr id="8" name="Rounded Rectangle 7"/>
          <p:cNvSpPr/>
          <p:nvPr/>
        </p:nvSpPr>
        <p:spPr>
          <a:xfrm>
            <a:off x="685800" y="1828800"/>
            <a:ext cx="2743200" cy="310896"/>
          </a:xfrm>
          <a:prstGeom prst="roundRect">
            <a:avLst>
              <a:gd name="adj" fmla="val 12000"/>
            </a:avLst>
          </a:prstGeom>
          <a:solidFill>
            <a:srgbClr val="2755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888236"/>
            <a:ext cx="2560320" cy="182880"/>
          </a:xfrm>
          <a:prstGeom prst="rect">
            <a:avLst/>
          </a:prstGeom>
          <a:noFill/>
        </p:spPr>
        <p:txBody>
          <a:bodyPr wrap="square" lIns="0" rIns="0" tIns="0" bIns="0">
            <a:spAutoFit/>
          </a:bodyPr>
          <a:lstStyle/>
          <a:p>
            <a:pPr>
              <a:spcAft>
                <a:spcPts val="800"/>
              </a:spcAft>
              <a:defRPr sz="900" b="1">
                <a:solidFill>
                  <a:srgbClr val="8DD5C2"/>
                </a:solidFill>
                <a:latin typeface="Arial"/>
              </a:defRPr>
            </a:pPr>
            <a:r>
              <a:t>P4  /  SMART E-MUTATION &amp; REGISTRY</a:t>
            </a:r>
          </a:p>
        </p:txBody>
      </p:sp>
      <p:sp>
        <p:nvSpPr>
          <p:cNvPr id="10" name="TextBox 9"/>
          <p:cNvSpPr txBox="1"/>
          <p:nvPr/>
        </p:nvSpPr>
        <p:spPr>
          <a:xfrm>
            <a:off x="685800" y="2423160"/>
            <a:ext cx="7772400" cy="1371600"/>
          </a:xfrm>
          <a:prstGeom prst="rect">
            <a:avLst/>
          </a:prstGeom>
          <a:noFill/>
        </p:spPr>
        <p:txBody>
          <a:bodyPr wrap="square" lIns="0" rIns="0" tIns="0" bIns="0">
            <a:spAutoFit/>
          </a:bodyPr>
          <a:lstStyle/>
          <a:p>
            <a:pPr>
              <a:spcAft>
                <a:spcPts val="800"/>
              </a:spcAft>
              <a:defRPr sz="4300" b="1">
                <a:solidFill>
                  <a:srgbClr val="FFFFFF"/>
                </a:solidFill>
                <a:latin typeface="Arial"/>
              </a:defRPr>
            </a:pPr>
            <a:r>
              <a:t>Land Ownership</a:t>
            </a:r>
          </a:p>
          <a:p>
            <a:pPr>
              <a:spcAft>
                <a:spcPts val="800"/>
              </a:spcAft>
              <a:defRPr sz="4300" b="1">
                <a:solidFill>
                  <a:srgbClr val="FFFFFF"/>
                </a:solidFill>
                <a:latin typeface="Arial"/>
              </a:defRPr>
            </a:pPr>
            <a:r>
              <a:t>Reconciliation Engine</a:t>
            </a:r>
          </a:p>
        </p:txBody>
      </p:sp>
      <p:sp>
        <p:nvSpPr>
          <p:cNvPr id="11" name="TextBox 10"/>
          <p:cNvSpPr txBox="1"/>
          <p:nvPr/>
        </p:nvSpPr>
        <p:spPr>
          <a:xfrm>
            <a:off x="704088" y="4096512"/>
            <a:ext cx="7498079" cy="914400"/>
          </a:xfrm>
          <a:prstGeom prst="rect">
            <a:avLst/>
          </a:prstGeom>
          <a:noFill/>
        </p:spPr>
        <p:txBody>
          <a:bodyPr wrap="square" lIns="0" rIns="0" tIns="0" bIns="0">
            <a:spAutoFit/>
          </a:bodyPr>
          <a:lstStyle/>
          <a:p>
            <a:pPr>
              <a:spcAft>
                <a:spcPts val="800"/>
              </a:spcAft>
              <a:defRPr sz="2300" b="0">
                <a:solidFill>
                  <a:srgbClr val="C5D9DF"/>
                </a:solidFill>
                <a:latin typeface="Arial"/>
              </a:defRPr>
            </a:pPr>
            <a:r>
              <a:t>Every land transaction should leave a traceable,</a:t>
            </a:r>
          </a:p>
          <a:p>
            <a:pPr>
              <a:spcAft>
                <a:spcPts val="800"/>
              </a:spcAft>
              <a:defRPr sz="2300" b="0">
                <a:solidFill>
                  <a:srgbClr val="C5D9DF"/>
                </a:solidFill>
                <a:latin typeface="Arial"/>
              </a:defRPr>
            </a:pPr>
            <a:r>
              <a:t>consistent ownership record.</a:t>
            </a:r>
          </a:p>
        </p:txBody>
      </p:sp>
      <p:sp>
        <p:nvSpPr>
          <p:cNvPr id="12" name="TextBox 11"/>
          <p:cNvSpPr txBox="1"/>
          <p:nvPr/>
        </p:nvSpPr>
        <p:spPr>
          <a:xfrm>
            <a:off x="704088" y="5669280"/>
            <a:ext cx="8229600" cy="320040"/>
          </a:xfrm>
          <a:prstGeom prst="rect">
            <a:avLst/>
          </a:prstGeom>
          <a:noFill/>
        </p:spPr>
        <p:txBody>
          <a:bodyPr wrap="square" lIns="0" rIns="0" tIns="0" bIns="0">
            <a:spAutoFit/>
          </a:bodyPr>
          <a:lstStyle/>
          <a:p>
            <a:pPr>
              <a:spcAft>
                <a:spcPts val="800"/>
              </a:spcAft>
              <a:defRPr sz="1600" b="0">
                <a:solidFill>
                  <a:srgbClr val="8DD5C2"/>
                </a:solidFill>
                <a:latin typeface="Arial"/>
              </a:defRPr>
            </a:pPr>
            <a:r>
              <a:t>Team BhuMi  ·  Daffodil International University, Bangladesh</a:t>
            </a:r>
          </a:p>
        </p:txBody>
      </p:sp>
      <p:sp>
        <p:nvSpPr>
          <p:cNvPr id="13" name="Rounded Rectangle 12"/>
          <p:cNvSpPr/>
          <p:nvPr/>
        </p:nvSpPr>
        <p:spPr>
          <a:xfrm>
            <a:off x="9235440" y="1371600"/>
            <a:ext cx="2240280" cy="1143000"/>
          </a:xfrm>
          <a:prstGeom prst="roundRect">
            <a:avLst>
              <a:gd name="adj" fmla="val 12000"/>
            </a:avLst>
          </a:prstGeom>
          <a:solidFill>
            <a:srgbClr val="2049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418320" y="1536192"/>
            <a:ext cx="1874519" cy="274320"/>
          </a:xfrm>
          <a:prstGeom prst="rect">
            <a:avLst/>
          </a:prstGeom>
          <a:noFill/>
        </p:spPr>
        <p:txBody>
          <a:bodyPr wrap="square" lIns="0" rIns="0" tIns="0" bIns="0">
            <a:spAutoFit/>
          </a:bodyPr>
          <a:lstStyle/>
          <a:p>
            <a:pPr>
              <a:spcAft>
                <a:spcPts val="800"/>
              </a:spcAft>
              <a:defRPr sz="900" b="1">
                <a:solidFill>
                  <a:srgbClr val="8DD5C2"/>
                </a:solidFill>
                <a:latin typeface="Arial"/>
              </a:defRPr>
            </a:pPr>
            <a:r>
              <a:t>DOCUMENTED INTEREST</a:t>
            </a:r>
          </a:p>
        </p:txBody>
      </p:sp>
      <p:sp>
        <p:nvSpPr>
          <p:cNvPr id="15" name="TextBox 14"/>
          <p:cNvSpPr txBox="1"/>
          <p:nvPr/>
        </p:nvSpPr>
        <p:spPr>
          <a:xfrm>
            <a:off x="9418320" y="1847088"/>
            <a:ext cx="1874519" cy="548640"/>
          </a:xfrm>
          <a:prstGeom prst="rect">
            <a:avLst/>
          </a:prstGeom>
          <a:noFill/>
        </p:spPr>
        <p:txBody>
          <a:bodyPr wrap="square" lIns="0" rIns="0" tIns="0" bIns="0">
            <a:spAutoFit/>
          </a:bodyPr>
          <a:lstStyle/>
          <a:p>
            <a:pPr>
              <a:spcAft>
                <a:spcPts val="800"/>
              </a:spcAft>
              <a:defRPr sz="3200" b="1">
                <a:solidFill>
                  <a:srgbClr val="FFFFFF"/>
                </a:solidFill>
                <a:latin typeface="Arial"/>
              </a:defRPr>
            </a:pPr>
            <a:r>
              <a:t>1/2</a:t>
            </a:r>
          </a:p>
        </p:txBody>
      </p:sp>
      <p:sp>
        <p:nvSpPr>
          <p:cNvPr id="16" name="Rounded Rectangle 15"/>
          <p:cNvSpPr/>
          <p:nvPr/>
        </p:nvSpPr>
        <p:spPr>
          <a:xfrm>
            <a:off x="9235440" y="2743200"/>
            <a:ext cx="2240280" cy="1143000"/>
          </a:xfrm>
          <a:prstGeom prst="roundRect">
            <a:avLst>
              <a:gd name="adj" fmla="val 12000"/>
            </a:avLst>
          </a:prstGeom>
          <a:solidFill>
            <a:srgbClr val="2049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418320" y="2907792"/>
            <a:ext cx="1874519" cy="274320"/>
          </a:xfrm>
          <a:prstGeom prst="rect">
            <a:avLst/>
          </a:prstGeom>
          <a:noFill/>
        </p:spPr>
        <p:txBody>
          <a:bodyPr wrap="square" lIns="0" rIns="0" tIns="0" bIns="0">
            <a:spAutoFit/>
          </a:bodyPr>
          <a:lstStyle/>
          <a:p>
            <a:pPr>
              <a:spcAft>
                <a:spcPts val="800"/>
              </a:spcAft>
              <a:defRPr sz="900" b="1">
                <a:solidFill>
                  <a:srgbClr val="8DD5C2"/>
                </a:solidFill>
                <a:latin typeface="Arial"/>
              </a:defRPr>
            </a:pPr>
            <a:r>
              <a:t>TRANSFERRED INTEREST</a:t>
            </a:r>
          </a:p>
        </p:txBody>
      </p:sp>
      <p:sp>
        <p:nvSpPr>
          <p:cNvPr id="18" name="TextBox 17"/>
          <p:cNvSpPr txBox="1"/>
          <p:nvPr/>
        </p:nvSpPr>
        <p:spPr>
          <a:xfrm>
            <a:off x="9418320" y="3218688"/>
            <a:ext cx="1874519" cy="548640"/>
          </a:xfrm>
          <a:prstGeom prst="rect">
            <a:avLst/>
          </a:prstGeom>
          <a:noFill/>
        </p:spPr>
        <p:txBody>
          <a:bodyPr wrap="square" lIns="0" rIns="0" tIns="0" bIns="0">
            <a:spAutoFit/>
          </a:bodyPr>
          <a:lstStyle/>
          <a:p>
            <a:pPr>
              <a:spcAft>
                <a:spcPts val="800"/>
              </a:spcAft>
              <a:defRPr sz="3200" b="1">
                <a:solidFill>
                  <a:srgbClr val="FFFFFF"/>
                </a:solidFill>
                <a:latin typeface="Arial"/>
              </a:defRPr>
            </a:pPr>
            <a:r>
              <a:t>1/4</a:t>
            </a:r>
          </a:p>
        </p:txBody>
      </p:sp>
      <p:sp>
        <p:nvSpPr>
          <p:cNvPr id="19" name="Rounded Rectangle 18"/>
          <p:cNvSpPr/>
          <p:nvPr/>
        </p:nvSpPr>
        <p:spPr>
          <a:xfrm>
            <a:off x="9235440" y="4114800"/>
            <a:ext cx="2240280" cy="1143000"/>
          </a:xfrm>
          <a:prstGeom prst="roundRect">
            <a:avLst>
              <a:gd name="adj" fmla="val 12000"/>
            </a:avLst>
          </a:prstGeom>
          <a:solidFill>
            <a:srgbClr val="2049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418320" y="4279392"/>
            <a:ext cx="1874519" cy="274320"/>
          </a:xfrm>
          <a:prstGeom prst="rect">
            <a:avLst/>
          </a:prstGeom>
          <a:noFill/>
        </p:spPr>
        <p:txBody>
          <a:bodyPr wrap="square" lIns="0" rIns="0" tIns="0" bIns="0">
            <a:spAutoFit/>
          </a:bodyPr>
          <a:lstStyle/>
          <a:p>
            <a:pPr>
              <a:spcAft>
                <a:spcPts val="800"/>
              </a:spcAft>
              <a:defRPr sz="900" b="1">
                <a:solidFill>
                  <a:srgbClr val="8DD5C2"/>
                </a:solidFill>
                <a:latin typeface="Arial"/>
              </a:defRPr>
            </a:pPr>
            <a:r>
              <a:t>REMAINING INTEREST</a:t>
            </a:r>
          </a:p>
        </p:txBody>
      </p:sp>
      <p:sp>
        <p:nvSpPr>
          <p:cNvPr id="21" name="TextBox 20"/>
          <p:cNvSpPr txBox="1"/>
          <p:nvPr/>
        </p:nvSpPr>
        <p:spPr>
          <a:xfrm>
            <a:off x="9418320" y="4590288"/>
            <a:ext cx="1874519" cy="548640"/>
          </a:xfrm>
          <a:prstGeom prst="rect">
            <a:avLst/>
          </a:prstGeom>
          <a:noFill/>
        </p:spPr>
        <p:txBody>
          <a:bodyPr wrap="square" lIns="0" rIns="0" tIns="0" bIns="0">
            <a:spAutoFit/>
          </a:bodyPr>
          <a:lstStyle/>
          <a:p>
            <a:pPr>
              <a:spcAft>
                <a:spcPts val="800"/>
              </a:spcAft>
              <a:defRPr sz="3200" b="1">
                <a:solidFill>
                  <a:srgbClr val="FFFFFF"/>
                </a:solidFill>
                <a:latin typeface="Arial"/>
              </a:defRPr>
            </a:pPr>
            <a:r>
              <a:t>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8F8"/>
        </a:solidFill>
        <a:effectLst/>
      </p:bgPr>
    </p:bg>
    <p:spTree>
      <p:nvGrpSpPr>
        <p:cNvPr id="1" name=""/>
        <p:cNvGrpSpPr/>
        <p:nvPr/>
      </p:nvGrpSpPr>
      <p:grpSpPr/>
      <p:sp>
        <p:nvSpPr>
          <p:cNvPr id="2" name="TextBox 1"/>
          <p:cNvSpPr txBox="1"/>
          <p:nvPr/>
        </p:nvSpPr>
        <p:spPr>
          <a:xfrm>
            <a:off x="594360" y="292608"/>
            <a:ext cx="10058400" cy="228600"/>
          </a:xfrm>
          <a:prstGeom prst="rect">
            <a:avLst/>
          </a:prstGeom>
          <a:noFill/>
        </p:spPr>
        <p:txBody>
          <a:bodyPr wrap="square" lIns="0" rIns="0" tIns="0" bIns="0">
            <a:spAutoFit/>
          </a:bodyPr>
          <a:lstStyle/>
          <a:p>
            <a:pPr>
              <a:spcAft>
                <a:spcPts val="800"/>
              </a:spcAft>
              <a:defRPr sz="1000" b="1">
                <a:solidFill>
                  <a:srgbClr val="087F73"/>
                </a:solidFill>
                <a:latin typeface="Arial"/>
              </a:defRPr>
            </a:pPr>
            <a:r>
              <a:t>01 / THE PROBLEM</a:t>
            </a:r>
          </a:p>
        </p:txBody>
      </p:sp>
      <p:sp>
        <p:nvSpPr>
          <p:cNvPr id="3" name="TextBox 2"/>
          <p:cNvSpPr txBox="1"/>
          <p:nvPr/>
        </p:nvSpPr>
        <p:spPr>
          <a:xfrm>
            <a:off x="594360" y="813816"/>
            <a:ext cx="10972800" cy="1005840"/>
          </a:xfrm>
          <a:prstGeom prst="rect">
            <a:avLst/>
          </a:prstGeom>
          <a:noFill/>
        </p:spPr>
        <p:txBody>
          <a:bodyPr wrap="square" lIns="0" rIns="0" tIns="0" bIns="0">
            <a:spAutoFit/>
          </a:bodyPr>
          <a:lstStyle/>
          <a:p>
            <a:pPr>
              <a:spcAft>
                <a:spcPts val="800"/>
              </a:spcAft>
              <a:defRPr sz="3300" b="1">
                <a:solidFill>
                  <a:srgbClr val="112F40"/>
                </a:solidFill>
                <a:latin typeface="Arial"/>
              </a:defRPr>
            </a:pPr>
            <a:r>
              <a:t>Digital records can still disagree.</a:t>
            </a:r>
          </a:p>
        </p:txBody>
      </p:sp>
      <p:sp>
        <p:nvSpPr>
          <p:cNvPr id="4" name="Rectangle 3"/>
          <p:cNvSpPr/>
          <p:nvPr/>
        </p:nvSpPr>
        <p:spPr>
          <a:xfrm>
            <a:off x="594360" y="6437376"/>
            <a:ext cx="11000232" cy="10972"/>
          </a:xfrm>
          <a:prstGeom prst="rect">
            <a:avLst/>
          </a:prstGeom>
          <a:solidFill>
            <a:srgbClr val="DCE7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6537960"/>
            <a:ext cx="8229600" cy="182880"/>
          </a:xfrm>
          <a:prstGeom prst="rect">
            <a:avLst/>
          </a:prstGeom>
          <a:noFill/>
        </p:spPr>
        <p:txBody>
          <a:bodyPr wrap="square" lIns="0" rIns="0" tIns="0" bIns="0">
            <a:spAutoFit/>
          </a:bodyPr>
          <a:lstStyle/>
          <a:p>
            <a:pPr>
              <a:spcAft>
                <a:spcPts val="800"/>
              </a:spcAft>
              <a:defRPr sz="800" b="0">
                <a:solidFill>
                  <a:srgbClr val="607781"/>
                </a:solidFill>
                <a:latin typeface="Arial"/>
              </a:defRPr>
            </a:pPr>
            <a:r>
              <a:t>BHUMI  /  LANDTECH 2026  /  P4 — SMART E-MUTATION &amp; REGISTRY</a:t>
            </a:r>
          </a:p>
        </p:txBody>
      </p:sp>
      <p:sp>
        <p:nvSpPr>
          <p:cNvPr id="6" name="TextBox 5"/>
          <p:cNvSpPr txBox="1"/>
          <p:nvPr/>
        </p:nvSpPr>
        <p:spPr>
          <a:xfrm>
            <a:off x="10972800" y="6510528"/>
            <a:ext cx="594360" cy="228600"/>
          </a:xfrm>
          <a:prstGeom prst="rect">
            <a:avLst/>
          </a:prstGeom>
          <a:noFill/>
        </p:spPr>
        <p:txBody>
          <a:bodyPr wrap="square" lIns="0" rIns="0" tIns="0" bIns="0">
            <a:spAutoFit/>
          </a:bodyPr>
          <a:lstStyle/>
          <a:p>
            <a:pPr algn="r">
              <a:spcAft>
                <a:spcPts val="800"/>
              </a:spcAft>
              <a:defRPr sz="900" b="0">
                <a:solidFill>
                  <a:srgbClr val="607781"/>
                </a:solidFill>
                <a:latin typeface="Arial"/>
              </a:defRPr>
            </a:pPr>
            <a:r>
              <a:t>02 / 09</a:t>
            </a:r>
          </a:p>
        </p:txBody>
      </p:sp>
      <p:sp>
        <p:nvSpPr>
          <p:cNvPr id="7" name="TextBox 6"/>
          <p:cNvSpPr txBox="1"/>
          <p:nvPr/>
        </p:nvSpPr>
        <p:spPr>
          <a:xfrm>
            <a:off x="612648" y="1673352"/>
            <a:ext cx="10607040" cy="548640"/>
          </a:xfrm>
          <a:prstGeom prst="rect">
            <a:avLst/>
          </a:prstGeom>
          <a:noFill/>
        </p:spPr>
        <p:txBody>
          <a:bodyPr wrap="square" lIns="0" rIns="0" tIns="0" bIns="0">
            <a:spAutoFit/>
          </a:bodyPr>
          <a:lstStyle/>
          <a:p>
            <a:pPr>
              <a:spcAft>
                <a:spcPts val="800"/>
              </a:spcAft>
              <a:defRPr sz="2200" b="0">
                <a:solidFill>
                  <a:srgbClr val="607781"/>
                </a:solidFill>
                <a:latin typeface="Arial"/>
              </a:defRPr>
            </a:pPr>
            <a:r>
              <a:t>A deed and its mutation can add up — while assigning land interests to the wrong people.</a:t>
            </a:r>
          </a:p>
        </p:txBody>
      </p:sp>
      <p:sp>
        <p:nvSpPr>
          <p:cNvPr id="8" name="Rounded Rectangle 7"/>
          <p:cNvSpPr/>
          <p:nvPr/>
        </p:nvSpPr>
        <p:spPr>
          <a:xfrm>
            <a:off x="594360" y="2514600"/>
            <a:ext cx="3493008" cy="2423160"/>
          </a:xfrm>
          <a:prstGeom prst="roundRect">
            <a:avLst>
              <a:gd name="adj" fmla="val 12000"/>
            </a:avLst>
          </a:prstGeom>
          <a:solidFill>
            <a:srgbClr val="FFFFFF"/>
          </a:solidFill>
          <a:ln>
            <a:solidFill>
              <a:srgbClr val="DCE7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5528" y="2715768"/>
            <a:ext cx="457200" cy="365760"/>
          </a:xfrm>
          <a:prstGeom prst="rect">
            <a:avLst/>
          </a:prstGeom>
          <a:noFill/>
        </p:spPr>
        <p:txBody>
          <a:bodyPr wrap="square" lIns="0" rIns="0" tIns="0" bIns="0">
            <a:spAutoFit/>
          </a:bodyPr>
          <a:lstStyle/>
          <a:p>
            <a:pPr>
              <a:spcAft>
                <a:spcPts val="800"/>
              </a:spcAft>
              <a:defRPr sz="1800" b="1">
                <a:solidFill>
                  <a:srgbClr val="087F73"/>
                </a:solidFill>
                <a:latin typeface="Arial"/>
              </a:defRPr>
            </a:pPr>
            <a:r>
              <a:t>01</a:t>
            </a:r>
          </a:p>
        </p:txBody>
      </p:sp>
      <p:sp>
        <p:nvSpPr>
          <p:cNvPr id="10" name="TextBox 9"/>
          <p:cNvSpPr txBox="1"/>
          <p:nvPr/>
        </p:nvSpPr>
        <p:spPr>
          <a:xfrm>
            <a:off x="795528" y="3291840"/>
            <a:ext cx="3090672" cy="731520"/>
          </a:xfrm>
          <a:prstGeom prst="rect">
            <a:avLst/>
          </a:prstGeom>
          <a:noFill/>
        </p:spPr>
        <p:txBody>
          <a:bodyPr wrap="square" lIns="0" rIns="0" tIns="0" bIns="0">
            <a:spAutoFit/>
          </a:bodyPr>
          <a:lstStyle/>
          <a:p>
            <a:pPr>
              <a:spcAft>
                <a:spcPts val="800"/>
              </a:spcAft>
              <a:defRPr sz="2200" b="1">
                <a:solidFill>
                  <a:srgbClr val="112F40"/>
                </a:solidFill>
                <a:latin typeface="Arial"/>
              </a:defRPr>
            </a:pPr>
            <a:r>
              <a:t>Registered deed</a:t>
            </a:r>
          </a:p>
        </p:txBody>
      </p:sp>
      <p:sp>
        <p:nvSpPr>
          <p:cNvPr id="11" name="TextBox 10"/>
          <p:cNvSpPr txBox="1"/>
          <p:nvPr/>
        </p:nvSpPr>
        <p:spPr>
          <a:xfrm>
            <a:off x="795528" y="4160520"/>
            <a:ext cx="3090672" cy="640080"/>
          </a:xfrm>
          <a:prstGeom prst="rect">
            <a:avLst/>
          </a:prstGeom>
          <a:noFill/>
        </p:spPr>
        <p:txBody>
          <a:bodyPr wrap="square" lIns="0" rIns="0" tIns="0" bIns="0">
            <a:spAutoFit/>
          </a:bodyPr>
          <a:lstStyle/>
          <a:p>
            <a:pPr>
              <a:spcAft>
                <a:spcPts val="800"/>
              </a:spcAft>
              <a:defRPr sz="1700" b="0">
                <a:solidFill>
                  <a:srgbClr val="607781"/>
                </a:solidFill>
                <a:latin typeface="Arial"/>
              </a:defRPr>
            </a:pPr>
            <a:r>
              <a:t>Records a transfer between specific parties.</a:t>
            </a:r>
          </a:p>
        </p:txBody>
      </p:sp>
      <p:sp>
        <p:nvSpPr>
          <p:cNvPr id="12" name="Rounded Rectangle 11"/>
          <p:cNvSpPr/>
          <p:nvPr/>
        </p:nvSpPr>
        <p:spPr>
          <a:xfrm>
            <a:off x="4352544" y="2514600"/>
            <a:ext cx="3493008" cy="2423160"/>
          </a:xfrm>
          <a:prstGeom prst="roundRect">
            <a:avLst>
              <a:gd name="adj" fmla="val 12000"/>
            </a:avLst>
          </a:prstGeom>
          <a:solidFill>
            <a:srgbClr val="FFFFFF"/>
          </a:solidFill>
          <a:ln>
            <a:solidFill>
              <a:srgbClr val="DCE7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53712" y="2715768"/>
            <a:ext cx="457200" cy="365760"/>
          </a:xfrm>
          <a:prstGeom prst="rect">
            <a:avLst/>
          </a:prstGeom>
          <a:noFill/>
        </p:spPr>
        <p:txBody>
          <a:bodyPr wrap="square" lIns="0" rIns="0" tIns="0" bIns="0">
            <a:spAutoFit/>
          </a:bodyPr>
          <a:lstStyle/>
          <a:p>
            <a:pPr>
              <a:spcAft>
                <a:spcPts val="800"/>
              </a:spcAft>
              <a:defRPr sz="1800" b="1">
                <a:solidFill>
                  <a:srgbClr val="087F73"/>
                </a:solidFill>
                <a:latin typeface="Arial"/>
              </a:defRPr>
            </a:pPr>
            <a:r>
              <a:t>02</a:t>
            </a:r>
          </a:p>
        </p:txBody>
      </p:sp>
      <p:sp>
        <p:nvSpPr>
          <p:cNvPr id="14" name="TextBox 13"/>
          <p:cNvSpPr txBox="1"/>
          <p:nvPr/>
        </p:nvSpPr>
        <p:spPr>
          <a:xfrm>
            <a:off x="4553712" y="3291840"/>
            <a:ext cx="3090672" cy="731520"/>
          </a:xfrm>
          <a:prstGeom prst="rect">
            <a:avLst/>
          </a:prstGeom>
          <a:noFill/>
        </p:spPr>
        <p:txBody>
          <a:bodyPr wrap="square" lIns="0" rIns="0" tIns="0" bIns="0">
            <a:spAutoFit/>
          </a:bodyPr>
          <a:lstStyle/>
          <a:p>
            <a:pPr>
              <a:spcAft>
                <a:spcPts val="800"/>
              </a:spcAft>
              <a:defRPr sz="2200" b="1">
                <a:solidFill>
                  <a:srgbClr val="112F40"/>
                </a:solidFill>
                <a:latin typeface="Arial"/>
              </a:defRPr>
            </a:pPr>
            <a:r>
              <a:t>Ownership history</a:t>
            </a:r>
          </a:p>
        </p:txBody>
      </p:sp>
      <p:sp>
        <p:nvSpPr>
          <p:cNvPr id="15" name="TextBox 14"/>
          <p:cNvSpPr txBox="1"/>
          <p:nvPr/>
        </p:nvSpPr>
        <p:spPr>
          <a:xfrm>
            <a:off x="4553712" y="4160520"/>
            <a:ext cx="3090672" cy="640080"/>
          </a:xfrm>
          <a:prstGeom prst="rect">
            <a:avLst/>
          </a:prstGeom>
          <a:noFill/>
        </p:spPr>
        <p:txBody>
          <a:bodyPr wrap="square" lIns="0" rIns="0" tIns="0" bIns="0">
            <a:spAutoFit/>
          </a:bodyPr>
          <a:lstStyle/>
          <a:p>
            <a:pPr>
              <a:spcAft>
                <a:spcPts val="800"/>
              </a:spcAft>
              <a:defRPr sz="1700" b="0">
                <a:solidFill>
                  <a:srgbClr val="607781"/>
                </a:solidFill>
                <a:latin typeface="Arial"/>
              </a:defRPr>
            </a:pPr>
            <a:r>
              <a:t>Shows what the transferor held and what co-owners retain.</a:t>
            </a:r>
          </a:p>
        </p:txBody>
      </p:sp>
      <p:sp>
        <p:nvSpPr>
          <p:cNvPr id="16" name="Rounded Rectangle 15"/>
          <p:cNvSpPr/>
          <p:nvPr/>
        </p:nvSpPr>
        <p:spPr>
          <a:xfrm>
            <a:off x="8110727" y="2514600"/>
            <a:ext cx="3493008" cy="2423160"/>
          </a:xfrm>
          <a:prstGeom prst="roundRect">
            <a:avLst>
              <a:gd name="adj" fmla="val 12000"/>
            </a:avLst>
          </a:prstGeom>
          <a:solidFill>
            <a:srgbClr val="FFFFFF"/>
          </a:solidFill>
          <a:ln>
            <a:solidFill>
              <a:srgbClr val="DCE7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11896" y="2715768"/>
            <a:ext cx="457200" cy="365760"/>
          </a:xfrm>
          <a:prstGeom prst="rect">
            <a:avLst/>
          </a:prstGeom>
          <a:noFill/>
        </p:spPr>
        <p:txBody>
          <a:bodyPr wrap="square" lIns="0" rIns="0" tIns="0" bIns="0">
            <a:spAutoFit/>
          </a:bodyPr>
          <a:lstStyle/>
          <a:p>
            <a:pPr>
              <a:spcAft>
                <a:spcPts val="800"/>
              </a:spcAft>
              <a:defRPr sz="1800" b="1">
                <a:solidFill>
                  <a:srgbClr val="087F73"/>
                </a:solidFill>
                <a:latin typeface="Arial"/>
              </a:defRPr>
            </a:pPr>
            <a:r>
              <a:t>03</a:t>
            </a:r>
          </a:p>
        </p:txBody>
      </p:sp>
      <p:sp>
        <p:nvSpPr>
          <p:cNvPr id="18" name="TextBox 17"/>
          <p:cNvSpPr txBox="1"/>
          <p:nvPr/>
        </p:nvSpPr>
        <p:spPr>
          <a:xfrm>
            <a:off x="8311896" y="3291840"/>
            <a:ext cx="3090672" cy="731520"/>
          </a:xfrm>
          <a:prstGeom prst="rect">
            <a:avLst/>
          </a:prstGeom>
          <a:noFill/>
        </p:spPr>
        <p:txBody>
          <a:bodyPr wrap="square" lIns="0" rIns="0" tIns="0" bIns="0">
            <a:spAutoFit/>
          </a:bodyPr>
          <a:lstStyle/>
          <a:p>
            <a:pPr>
              <a:spcAft>
                <a:spcPts val="800"/>
              </a:spcAft>
              <a:defRPr sz="2200" b="1">
                <a:solidFill>
                  <a:srgbClr val="112F40"/>
                </a:solidFill>
                <a:latin typeface="Arial"/>
              </a:defRPr>
            </a:pPr>
            <a:r>
              <a:t>Mutation record</a:t>
            </a:r>
          </a:p>
        </p:txBody>
      </p:sp>
      <p:sp>
        <p:nvSpPr>
          <p:cNvPr id="19" name="TextBox 18"/>
          <p:cNvSpPr txBox="1"/>
          <p:nvPr/>
        </p:nvSpPr>
        <p:spPr>
          <a:xfrm>
            <a:off x="8311896" y="4160520"/>
            <a:ext cx="3090672" cy="640080"/>
          </a:xfrm>
          <a:prstGeom prst="rect">
            <a:avLst/>
          </a:prstGeom>
          <a:noFill/>
        </p:spPr>
        <p:txBody>
          <a:bodyPr wrap="square" lIns="0" rIns="0" tIns="0" bIns="0">
            <a:spAutoFit/>
          </a:bodyPr>
          <a:lstStyle/>
          <a:p>
            <a:pPr>
              <a:spcAft>
                <a:spcPts val="800"/>
              </a:spcAft>
              <a:defRPr sz="1700" b="0">
                <a:solidFill>
                  <a:srgbClr val="607781"/>
                </a:solidFill>
                <a:latin typeface="Arial"/>
              </a:defRPr>
            </a:pPr>
            <a:r>
              <a:t>May omit or misallocate the resulting shares.</a:t>
            </a:r>
          </a:p>
        </p:txBody>
      </p:sp>
      <p:sp>
        <p:nvSpPr>
          <p:cNvPr id="20" name="Rounded Rectangle 19"/>
          <p:cNvSpPr/>
          <p:nvPr/>
        </p:nvSpPr>
        <p:spPr>
          <a:xfrm>
            <a:off x="594360" y="5266944"/>
            <a:ext cx="11009376" cy="557784"/>
          </a:xfrm>
          <a:prstGeom prst="roundRect">
            <a:avLst>
              <a:gd name="adj" fmla="val 12000"/>
            </a:avLst>
          </a:prstGeom>
          <a:solidFill>
            <a:srgbClr val="112F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2960" y="5404104"/>
            <a:ext cx="10515600" cy="365760"/>
          </a:xfrm>
          <a:prstGeom prst="rect">
            <a:avLst/>
          </a:prstGeom>
          <a:noFill/>
        </p:spPr>
        <p:txBody>
          <a:bodyPr wrap="square" lIns="0" rIns="0" tIns="0" bIns="0">
            <a:spAutoFit/>
          </a:bodyPr>
          <a:lstStyle/>
          <a:p>
            <a:pPr>
              <a:spcAft>
                <a:spcPts val="800"/>
              </a:spcAft>
              <a:defRPr sz="1900" b="1">
                <a:solidFill>
                  <a:srgbClr val="FFFFFF"/>
                </a:solidFill>
                <a:latin typeface="Arial"/>
              </a:defRPr>
            </a:pPr>
            <a:r>
              <a:t>The hidden risk: an uninvolved co-owner loses interest even when the total stays correct.</a:t>
            </a:r>
          </a:p>
        </p:txBody>
      </p:sp>
      <p:sp>
        <p:nvSpPr>
          <p:cNvPr id="22" name="TextBox 21">
            <a:hlinkClick r:id="rId2"/>
          </p:cNvPr>
          <p:cNvSpPr txBox="1"/>
          <p:nvPr/>
        </p:nvSpPr>
        <p:spPr>
          <a:xfrm>
            <a:off x="612648" y="5989320"/>
            <a:ext cx="10972800" cy="256032"/>
          </a:xfrm>
          <a:prstGeom prst="rect">
            <a:avLst/>
          </a:prstGeom>
          <a:noFill/>
        </p:spPr>
        <p:txBody>
          <a:bodyPr wrap="square" lIns="0" rIns="0" tIns="0" bIns="0">
            <a:spAutoFit/>
          </a:bodyPr>
          <a:lstStyle/>
          <a:p>
            <a:pPr>
              <a:spcAft>
                <a:spcPts val="800"/>
              </a:spcAft>
              <a:defRPr sz="1000" b="0">
                <a:solidFill>
                  <a:srgbClr val="607781"/>
                </a:solidFill>
                <a:latin typeface="Arial"/>
              </a:defRPr>
            </a:pPr>
            <a:r>
              <a:t>Context: World Bank, Bangladesh Land Acquisition Diagnostic Review (2022). Prototype examples are fictional.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8F8"/>
        </a:solidFill>
        <a:effectLst/>
      </p:bgPr>
    </p:bg>
    <p:spTree>
      <p:nvGrpSpPr>
        <p:cNvPr id="1" name=""/>
        <p:cNvGrpSpPr/>
        <p:nvPr/>
      </p:nvGrpSpPr>
      <p:grpSpPr/>
      <p:sp>
        <p:nvSpPr>
          <p:cNvPr id="2" name="TextBox 1"/>
          <p:cNvSpPr txBox="1"/>
          <p:nvPr/>
        </p:nvSpPr>
        <p:spPr>
          <a:xfrm>
            <a:off x="594360" y="292608"/>
            <a:ext cx="10058400" cy="228600"/>
          </a:xfrm>
          <a:prstGeom prst="rect">
            <a:avLst/>
          </a:prstGeom>
          <a:noFill/>
        </p:spPr>
        <p:txBody>
          <a:bodyPr wrap="square" lIns="0" rIns="0" tIns="0" bIns="0">
            <a:spAutoFit/>
          </a:bodyPr>
          <a:lstStyle/>
          <a:p>
            <a:pPr>
              <a:spcAft>
                <a:spcPts val="800"/>
              </a:spcAft>
              <a:defRPr sz="1000" b="1">
                <a:solidFill>
                  <a:srgbClr val="087F73"/>
                </a:solidFill>
                <a:latin typeface="Arial"/>
              </a:defRPr>
            </a:pPr>
            <a:r>
              <a:t>02 / OUR SOLUTION</a:t>
            </a:r>
          </a:p>
        </p:txBody>
      </p:sp>
      <p:sp>
        <p:nvSpPr>
          <p:cNvPr id="3" name="TextBox 2"/>
          <p:cNvSpPr txBox="1"/>
          <p:nvPr/>
        </p:nvSpPr>
        <p:spPr>
          <a:xfrm>
            <a:off x="594360" y="813816"/>
            <a:ext cx="10972800" cy="1005840"/>
          </a:xfrm>
          <a:prstGeom prst="rect">
            <a:avLst/>
          </a:prstGeom>
          <a:noFill/>
        </p:spPr>
        <p:txBody>
          <a:bodyPr wrap="square" lIns="0" rIns="0" tIns="0" bIns="0">
            <a:spAutoFit/>
          </a:bodyPr>
          <a:lstStyle/>
          <a:p>
            <a:pPr>
              <a:spcAft>
                <a:spcPts val="800"/>
              </a:spcAft>
              <a:defRPr sz="3300" b="1">
                <a:solidFill>
                  <a:srgbClr val="112F40"/>
                </a:solidFill>
                <a:latin typeface="Arial"/>
              </a:defRPr>
            </a:pPr>
            <a:r>
              <a:t>Reconcile ownership, not just documents.</a:t>
            </a:r>
          </a:p>
        </p:txBody>
      </p:sp>
      <p:sp>
        <p:nvSpPr>
          <p:cNvPr id="4" name="Rectangle 3"/>
          <p:cNvSpPr/>
          <p:nvPr/>
        </p:nvSpPr>
        <p:spPr>
          <a:xfrm>
            <a:off x="594360" y="6437376"/>
            <a:ext cx="11000232" cy="10972"/>
          </a:xfrm>
          <a:prstGeom prst="rect">
            <a:avLst/>
          </a:prstGeom>
          <a:solidFill>
            <a:srgbClr val="DCE7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6537960"/>
            <a:ext cx="8229600" cy="182880"/>
          </a:xfrm>
          <a:prstGeom prst="rect">
            <a:avLst/>
          </a:prstGeom>
          <a:noFill/>
        </p:spPr>
        <p:txBody>
          <a:bodyPr wrap="square" lIns="0" rIns="0" tIns="0" bIns="0">
            <a:spAutoFit/>
          </a:bodyPr>
          <a:lstStyle/>
          <a:p>
            <a:pPr>
              <a:spcAft>
                <a:spcPts val="800"/>
              </a:spcAft>
              <a:defRPr sz="800" b="0">
                <a:solidFill>
                  <a:srgbClr val="607781"/>
                </a:solidFill>
                <a:latin typeface="Arial"/>
              </a:defRPr>
            </a:pPr>
            <a:r>
              <a:t>BHUMI  /  LANDTECH 2026  /  P4 — SMART E-MUTATION &amp; REGISTRY</a:t>
            </a:r>
          </a:p>
        </p:txBody>
      </p:sp>
      <p:sp>
        <p:nvSpPr>
          <p:cNvPr id="6" name="TextBox 5"/>
          <p:cNvSpPr txBox="1"/>
          <p:nvPr/>
        </p:nvSpPr>
        <p:spPr>
          <a:xfrm>
            <a:off x="10972800" y="6510528"/>
            <a:ext cx="594360" cy="228600"/>
          </a:xfrm>
          <a:prstGeom prst="rect">
            <a:avLst/>
          </a:prstGeom>
          <a:noFill/>
        </p:spPr>
        <p:txBody>
          <a:bodyPr wrap="square" lIns="0" rIns="0" tIns="0" bIns="0">
            <a:spAutoFit/>
          </a:bodyPr>
          <a:lstStyle/>
          <a:p>
            <a:pPr algn="r">
              <a:spcAft>
                <a:spcPts val="800"/>
              </a:spcAft>
              <a:defRPr sz="900" b="0">
                <a:solidFill>
                  <a:srgbClr val="607781"/>
                </a:solidFill>
                <a:latin typeface="Arial"/>
              </a:defRPr>
            </a:pPr>
            <a:r>
              <a:t>03 / 09</a:t>
            </a:r>
          </a:p>
        </p:txBody>
      </p:sp>
      <p:sp>
        <p:nvSpPr>
          <p:cNvPr id="7" name="TextBox 6"/>
          <p:cNvSpPr txBox="1"/>
          <p:nvPr/>
        </p:nvSpPr>
        <p:spPr>
          <a:xfrm>
            <a:off x="612648" y="1783080"/>
            <a:ext cx="5577840" cy="1097280"/>
          </a:xfrm>
          <a:prstGeom prst="rect">
            <a:avLst/>
          </a:prstGeom>
          <a:noFill/>
        </p:spPr>
        <p:txBody>
          <a:bodyPr wrap="square" lIns="0" rIns="0" tIns="0" bIns="0">
            <a:spAutoFit/>
          </a:bodyPr>
          <a:lstStyle/>
          <a:p>
            <a:pPr>
              <a:spcAft>
                <a:spcPts val="800"/>
              </a:spcAft>
              <a:defRPr sz="2500" b="0">
                <a:solidFill>
                  <a:srgbClr val="183544"/>
                </a:solidFill>
                <a:latin typeface="Arial"/>
              </a:defRPr>
            </a:pPr>
            <a:r>
              <a:t>BhuMi independently reconstructs the expected ownership state, then checks each party against mutation.</a:t>
            </a:r>
          </a:p>
        </p:txBody>
      </p:sp>
      <p:sp>
        <p:nvSpPr>
          <p:cNvPr id="8" name="TextBox 7"/>
          <p:cNvSpPr txBox="1"/>
          <p:nvPr/>
        </p:nvSpPr>
        <p:spPr>
          <a:xfrm>
            <a:off x="685800" y="3108960"/>
            <a:ext cx="1645920" cy="365760"/>
          </a:xfrm>
          <a:prstGeom prst="rect">
            <a:avLst/>
          </a:prstGeom>
          <a:noFill/>
        </p:spPr>
        <p:txBody>
          <a:bodyPr wrap="square" lIns="0" rIns="0" tIns="0" bIns="0">
            <a:spAutoFit/>
          </a:bodyPr>
          <a:lstStyle/>
          <a:p>
            <a:pPr>
              <a:spcAft>
                <a:spcPts val="800"/>
              </a:spcAft>
              <a:defRPr sz="2100" b="1">
                <a:solidFill>
                  <a:srgbClr val="087F73"/>
                </a:solidFill>
                <a:latin typeface="Arial"/>
              </a:defRPr>
            </a:pPr>
            <a:r>
              <a:t>Exact</a:t>
            </a:r>
          </a:p>
        </p:txBody>
      </p:sp>
      <p:sp>
        <p:nvSpPr>
          <p:cNvPr id="9" name="TextBox 8"/>
          <p:cNvSpPr txBox="1"/>
          <p:nvPr/>
        </p:nvSpPr>
        <p:spPr>
          <a:xfrm>
            <a:off x="2377440" y="3136391"/>
            <a:ext cx="3931920" cy="548640"/>
          </a:xfrm>
          <a:prstGeom prst="rect">
            <a:avLst/>
          </a:prstGeom>
          <a:noFill/>
        </p:spPr>
        <p:txBody>
          <a:bodyPr wrap="square" lIns="0" rIns="0" tIns="0" bIns="0">
            <a:spAutoFit/>
          </a:bodyPr>
          <a:lstStyle/>
          <a:p>
            <a:pPr>
              <a:spcAft>
                <a:spcPts val="800"/>
              </a:spcAft>
              <a:defRPr sz="1700" b="0">
                <a:solidFill>
                  <a:srgbClr val="607781"/>
                </a:solidFill>
                <a:latin typeface="Arial"/>
              </a:defRPr>
            </a:pPr>
            <a:r>
              <a:t>Fractional shares, not rounded decisions.</a:t>
            </a:r>
          </a:p>
        </p:txBody>
      </p:sp>
      <p:sp>
        <p:nvSpPr>
          <p:cNvPr id="10" name="TextBox 9"/>
          <p:cNvSpPr txBox="1"/>
          <p:nvPr/>
        </p:nvSpPr>
        <p:spPr>
          <a:xfrm>
            <a:off x="685800" y="3904487"/>
            <a:ext cx="1645920" cy="365760"/>
          </a:xfrm>
          <a:prstGeom prst="rect">
            <a:avLst/>
          </a:prstGeom>
          <a:noFill/>
        </p:spPr>
        <p:txBody>
          <a:bodyPr wrap="square" lIns="0" rIns="0" tIns="0" bIns="0">
            <a:spAutoFit/>
          </a:bodyPr>
          <a:lstStyle/>
          <a:p>
            <a:pPr>
              <a:spcAft>
                <a:spcPts val="800"/>
              </a:spcAft>
              <a:defRPr sz="2100" b="1">
                <a:solidFill>
                  <a:srgbClr val="087F73"/>
                </a:solidFill>
                <a:latin typeface="Arial"/>
              </a:defRPr>
            </a:pPr>
            <a:r>
              <a:t>Explainable</a:t>
            </a:r>
          </a:p>
        </p:txBody>
      </p:sp>
      <p:sp>
        <p:nvSpPr>
          <p:cNvPr id="11" name="TextBox 10"/>
          <p:cNvSpPr txBox="1"/>
          <p:nvPr/>
        </p:nvSpPr>
        <p:spPr>
          <a:xfrm>
            <a:off x="2377440" y="3931920"/>
            <a:ext cx="3931920" cy="548640"/>
          </a:xfrm>
          <a:prstGeom prst="rect">
            <a:avLst/>
          </a:prstGeom>
          <a:noFill/>
        </p:spPr>
        <p:txBody>
          <a:bodyPr wrap="square" lIns="0" rIns="0" tIns="0" bIns="0">
            <a:spAutoFit/>
          </a:bodyPr>
          <a:lstStyle/>
          <a:p>
            <a:pPr>
              <a:spcAft>
                <a:spcPts val="800"/>
              </a:spcAft>
              <a:defRPr sz="1700" b="0">
                <a:solidFill>
                  <a:srgbClr val="607781"/>
                </a:solidFill>
                <a:latin typeface="Arial"/>
              </a:defRPr>
            </a:pPr>
            <a:r>
              <a:t>Named parties, exact differences and source IDs.</a:t>
            </a:r>
          </a:p>
        </p:txBody>
      </p:sp>
      <p:sp>
        <p:nvSpPr>
          <p:cNvPr id="12" name="TextBox 11"/>
          <p:cNvSpPr txBox="1"/>
          <p:nvPr/>
        </p:nvSpPr>
        <p:spPr>
          <a:xfrm>
            <a:off x="685800" y="4700016"/>
            <a:ext cx="1645920" cy="365760"/>
          </a:xfrm>
          <a:prstGeom prst="rect">
            <a:avLst/>
          </a:prstGeom>
          <a:noFill/>
        </p:spPr>
        <p:txBody>
          <a:bodyPr wrap="square" lIns="0" rIns="0" tIns="0" bIns="0">
            <a:spAutoFit/>
          </a:bodyPr>
          <a:lstStyle/>
          <a:p>
            <a:pPr>
              <a:spcAft>
                <a:spcPts val="800"/>
              </a:spcAft>
              <a:defRPr sz="2100" b="1">
                <a:solidFill>
                  <a:srgbClr val="087F73"/>
                </a:solidFill>
                <a:latin typeface="Arial"/>
              </a:defRPr>
            </a:pPr>
            <a:r>
              <a:t>Reviewable</a:t>
            </a:r>
          </a:p>
        </p:txBody>
      </p:sp>
      <p:sp>
        <p:nvSpPr>
          <p:cNvPr id="13" name="TextBox 12"/>
          <p:cNvSpPr txBox="1"/>
          <p:nvPr/>
        </p:nvSpPr>
        <p:spPr>
          <a:xfrm>
            <a:off x="2377440" y="4727448"/>
            <a:ext cx="3931920" cy="548640"/>
          </a:xfrm>
          <a:prstGeom prst="rect">
            <a:avLst/>
          </a:prstGeom>
          <a:noFill/>
        </p:spPr>
        <p:txBody>
          <a:bodyPr wrap="square" lIns="0" rIns="0" tIns="0" bIns="0">
            <a:spAutoFit/>
          </a:bodyPr>
          <a:lstStyle/>
          <a:p>
            <a:pPr>
              <a:spcAft>
                <a:spcPts val="800"/>
              </a:spcAft>
              <a:defRPr sz="1700" b="0">
                <a:solidFill>
                  <a:srgbClr val="607781"/>
                </a:solidFill>
                <a:latin typeface="Arial"/>
              </a:defRPr>
            </a:pPr>
            <a:r>
              <a:t>An officer records the next step and the reason.</a:t>
            </a:r>
          </a:p>
        </p:txBody>
      </p:sp>
      <p:sp>
        <p:nvSpPr>
          <p:cNvPr id="14" name="Rounded Rectangle 13"/>
          <p:cNvSpPr/>
          <p:nvPr/>
        </p:nvSpPr>
        <p:spPr>
          <a:xfrm>
            <a:off x="6858000" y="1828800"/>
            <a:ext cx="4709160" cy="4114800"/>
          </a:xfrm>
          <a:prstGeom prst="roundRect">
            <a:avLst>
              <a:gd name="adj" fmla="val 12000"/>
            </a:avLst>
          </a:prstGeom>
          <a:solidFill>
            <a:srgbClr val="112F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178040" y="2194560"/>
            <a:ext cx="4023360" cy="320040"/>
          </a:xfrm>
          <a:prstGeom prst="rect">
            <a:avLst/>
          </a:prstGeom>
          <a:noFill/>
        </p:spPr>
        <p:txBody>
          <a:bodyPr wrap="square" lIns="0" rIns="0" tIns="0" bIns="0">
            <a:spAutoFit/>
          </a:bodyPr>
          <a:lstStyle/>
          <a:p>
            <a:pPr>
              <a:spcAft>
                <a:spcPts val="800"/>
              </a:spcAft>
              <a:defRPr sz="1100" b="1">
                <a:solidFill>
                  <a:srgbClr val="8DD5C2"/>
                </a:solidFill>
                <a:latin typeface="Arial"/>
              </a:defRPr>
            </a:pPr>
            <a:r>
              <a:t>WHAT MAKES BHUMI DIFFERENT</a:t>
            </a:r>
          </a:p>
        </p:txBody>
      </p:sp>
      <p:sp>
        <p:nvSpPr>
          <p:cNvPr id="16" name="TextBox 15"/>
          <p:cNvSpPr txBox="1"/>
          <p:nvPr/>
        </p:nvSpPr>
        <p:spPr>
          <a:xfrm>
            <a:off x="7178040" y="2788920"/>
            <a:ext cx="3886200" cy="1600200"/>
          </a:xfrm>
          <a:prstGeom prst="rect">
            <a:avLst/>
          </a:prstGeom>
          <a:noFill/>
        </p:spPr>
        <p:txBody>
          <a:bodyPr wrap="square" lIns="0" rIns="0" tIns="0" bIns="0">
            <a:spAutoFit/>
          </a:bodyPr>
          <a:lstStyle/>
          <a:p>
            <a:pPr>
              <a:spcAft>
                <a:spcPts val="800"/>
              </a:spcAft>
              <a:defRPr sz="2800" b="1">
                <a:solidFill>
                  <a:srgbClr val="FFFFFF"/>
                </a:solidFill>
                <a:latin typeface="Arial"/>
              </a:defRPr>
            </a:pPr>
            <a:r>
              <a:t>Correct total area</a:t>
            </a:r>
          </a:p>
          <a:p>
            <a:pPr>
              <a:spcAft>
                <a:spcPts val="800"/>
              </a:spcAft>
              <a:defRPr sz="2800" b="1">
                <a:solidFill>
                  <a:srgbClr val="FFFFFF"/>
                </a:solidFill>
                <a:latin typeface="Arial"/>
              </a:defRPr>
            </a:pPr>
            <a:r>
              <a:t>≠</a:t>
            </a:r>
          </a:p>
          <a:p>
            <a:pPr>
              <a:spcAft>
                <a:spcPts val="800"/>
              </a:spcAft>
              <a:defRPr sz="2800" b="1">
                <a:solidFill>
                  <a:srgbClr val="FFFFFF"/>
                </a:solidFill>
                <a:latin typeface="Arial"/>
              </a:defRPr>
            </a:pPr>
            <a:r>
              <a:t>Correct ownership allocation</a:t>
            </a:r>
          </a:p>
        </p:txBody>
      </p:sp>
      <p:sp>
        <p:nvSpPr>
          <p:cNvPr id="17" name="TextBox 16"/>
          <p:cNvSpPr txBox="1"/>
          <p:nvPr/>
        </p:nvSpPr>
        <p:spPr>
          <a:xfrm>
            <a:off x="7178040" y="4800600"/>
            <a:ext cx="3749039" cy="777240"/>
          </a:xfrm>
          <a:prstGeom prst="rect">
            <a:avLst/>
          </a:prstGeom>
          <a:noFill/>
        </p:spPr>
        <p:txBody>
          <a:bodyPr wrap="square" lIns="0" rIns="0" tIns="0" bIns="0">
            <a:spAutoFit/>
          </a:bodyPr>
          <a:lstStyle/>
          <a:p>
            <a:pPr>
              <a:spcAft>
                <a:spcPts val="800"/>
              </a:spcAft>
              <a:defRPr sz="1700" b="0">
                <a:solidFill>
                  <a:srgbClr val="BDD5DC"/>
                </a:solidFill>
                <a:latin typeface="Arial"/>
              </a:defRPr>
            </a:pPr>
            <a:r>
              <a:t>A MATCH means the supplied records reconcile. It does not establish legal title.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8F8"/>
        </a:solidFill>
        <a:effectLst/>
      </p:bgPr>
    </p:bg>
    <p:spTree>
      <p:nvGrpSpPr>
        <p:cNvPr id="1" name=""/>
        <p:cNvGrpSpPr/>
        <p:nvPr/>
      </p:nvGrpSpPr>
      <p:grpSpPr/>
      <p:sp>
        <p:nvSpPr>
          <p:cNvPr id="2" name="TextBox 1"/>
          <p:cNvSpPr txBox="1"/>
          <p:nvPr/>
        </p:nvSpPr>
        <p:spPr>
          <a:xfrm>
            <a:off x="594360" y="292608"/>
            <a:ext cx="10058400" cy="228600"/>
          </a:xfrm>
          <a:prstGeom prst="rect">
            <a:avLst/>
          </a:prstGeom>
          <a:noFill/>
        </p:spPr>
        <p:txBody>
          <a:bodyPr wrap="square" lIns="0" rIns="0" tIns="0" bIns="0">
            <a:spAutoFit/>
          </a:bodyPr>
          <a:lstStyle/>
          <a:p>
            <a:pPr>
              <a:spcAft>
                <a:spcPts val="800"/>
              </a:spcAft>
              <a:defRPr sz="1000" b="1">
                <a:solidFill>
                  <a:srgbClr val="087F73"/>
                </a:solidFill>
                <a:latin typeface="Arial"/>
              </a:defRPr>
            </a:pPr>
            <a:r>
              <a:t>03 / HOW IT WORKS</a:t>
            </a:r>
          </a:p>
        </p:txBody>
      </p:sp>
      <p:sp>
        <p:nvSpPr>
          <p:cNvPr id="3" name="TextBox 2"/>
          <p:cNvSpPr txBox="1"/>
          <p:nvPr/>
        </p:nvSpPr>
        <p:spPr>
          <a:xfrm>
            <a:off x="594360" y="813816"/>
            <a:ext cx="10972800" cy="1005840"/>
          </a:xfrm>
          <a:prstGeom prst="rect">
            <a:avLst/>
          </a:prstGeom>
          <a:noFill/>
        </p:spPr>
        <p:txBody>
          <a:bodyPr wrap="square" lIns="0" rIns="0" tIns="0" bIns="0">
            <a:spAutoFit/>
          </a:bodyPr>
          <a:lstStyle/>
          <a:p>
            <a:pPr>
              <a:spcAft>
                <a:spcPts val="800"/>
              </a:spcAft>
              <a:defRPr sz="3300" b="1">
                <a:solidFill>
                  <a:srgbClr val="112F40"/>
                </a:solidFill>
                <a:latin typeface="Arial"/>
              </a:defRPr>
            </a:pPr>
            <a:r>
              <a:t>From documented history to a reviewable result.</a:t>
            </a:r>
          </a:p>
        </p:txBody>
      </p:sp>
      <p:sp>
        <p:nvSpPr>
          <p:cNvPr id="4" name="Rectangle 3"/>
          <p:cNvSpPr/>
          <p:nvPr/>
        </p:nvSpPr>
        <p:spPr>
          <a:xfrm>
            <a:off x="594360" y="6437376"/>
            <a:ext cx="11000232" cy="10972"/>
          </a:xfrm>
          <a:prstGeom prst="rect">
            <a:avLst/>
          </a:prstGeom>
          <a:solidFill>
            <a:srgbClr val="DCE7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6537960"/>
            <a:ext cx="8229600" cy="182880"/>
          </a:xfrm>
          <a:prstGeom prst="rect">
            <a:avLst/>
          </a:prstGeom>
          <a:noFill/>
        </p:spPr>
        <p:txBody>
          <a:bodyPr wrap="square" lIns="0" rIns="0" tIns="0" bIns="0">
            <a:spAutoFit/>
          </a:bodyPr>
          <a:lstStyle/>
          <a:p>
            <a:pPr>
              <a:spcAft>
                <a:spcPts val="800"/>
              </a:spcAft>
              <a:defRPr sz="800" b="0">
                <a:solidFill>
                  <a:srgbClr val="607781"/>
                </a:solidFill>
                <a:latin typeface="Arial"/>
              </a:defRPr>
            </a:pPr>
            <a:r>
              <a:t>BHUMI  /  LANDTECH 2026  /  P4 — SMART E-MUTATION &amp; REGISTRY</a:t>
            </a:r>
          </a:p>
        </p:txBody>
      </p:sp>
      <p:sp>
        <p:nvSpPr>
          <p:cNvPr id="6" name="TextBox 5"/>
          <p:cNvSpPr txBox="1"/>
          <p:nvPr/>
        </p:nvSpPr>
        <p:spPr>
          <a:xfrm>
            <a:off x="10972800" y="6510528"/>
            <a:ext cx="594360" cy="228600"/>
          </a:xfrm>
          <a:prstGeom prst="rect">
            <a:avLst/>
          </a:prstGeom>
          <a:noFill/>
        </p:spPr>
        <p:txBody>
          <a:bodyPr wrap="square" lIns="0" rIns="0" tIns="0" bIns="0">
            <a:spAutoFit/>
          </a:bodyPr>
          <a:lstStyle/>
          <a:p>
            <a:pPr algn="r">
              <a:spcAft>
                <a:spcPts val="800"/>
              </a:spcAft>
              <a:defRPr sz="900" b="0">
                <a:solidFill>
                  <a:srgbClr val="607781"/>
                </a:solidFill>
                <a:latin typeface="Arial"/>
              </a:defRPr>
            </a:pPr>
            <a:r>
              <a:t>04 / 09</a:t>
            </a:r>
          </a:p>
        </p:txBody>
      </p:sp>
      <p:sp>
        <p:nvSpPr>
          <p:cNvPr id="7" name="Rounded Rectangle 6"/>
          <p:cNvSpPr/>
          <p:nvPr/>
        </p:nvSpPr>
        <p:spPr>
          <a:xfrm>
            <a:off x="594360" y="1920240"/>
            <a:ext cx="2551176" cy="2057400"/>
          </a:xfrm>
          <a:prstGeom prst="roundRect">
            <a:avLst>
              <a:gd name="adj" fmla="val 12000"/>
            </a:avLst>
          </a:prstGeom>
          <a:solidFill>
            <a:srgbClr val="FFFFFF"/>
          </a:solidFill>
          <a:ln>
            <a:solidFill>
              <a:srgbClr val="DCE7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77240" y="2121408"/>
            <a:ext cx="438912" cy="310896"/>
          </a:xfrm>
          <a:prstGeom prst="roundRect">
            <a:avLst>
              <a:gd name="adj" fmla="val 12000"/>
            </a:avLst>
          </a:prstGeom>
          <a:solidFill>
            <a:srgbClr val="087F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180844"/>
            <a:ext cx="256031" cy="182880"/>
          </a:xfrm>
          <a:prstGeom prst="rect">
            <a:avLst/>
          </a:prstGeom>
          <a:noFill/>
        </p:spPr>
        <p:txBody>
          <a:bodyPr wrap="square" lIns="0" rIns="0" tIns="0" bIns="0">
            <a:spAutoFit/>
          </a:bodyPr>
          <a:lstStyle/>
          <a:p>
            <a:pPr>
              <a:spcAft>
                <a:spcPts val="800"/>
              </a:spcAft>
              <a:defRPr sz="900" b="1">
                <a:solidFill>
                  <a:srgbClr val="FFFFFF"/>
                </a:solidFill>
                <a:latin typeface="Arial"/>
              </a:defRPr>
            </a:pPr>
            <a:r>
              <a:t>01</a:t>
            </a:r>
          </a:p>
        </p:txBody>
      </p:sp>
      <p:sp>
        <p:nvSpPr>
          <p:cNvPr id="10" name="TextBox 9"/>
          <p:cNvSpPr txBox="1"/>
          <p:nvPr/>
        </p:nvSpPr>
        <p:spPr>
          <a:xfrm>
            <a:off x="777240" y="2734056"/>
            <a:ext cx="2148840" cy="731520"/>
          </a:xfrm>
          <a:prstGeom prst="rect">
            <a:avLst/>
          </a:prstGeom>
          <a:noFill/>
        </p:spPr>
        <p:txBody>
          <a:bodyPr wrap="square" lIns="0" rIns="0" tIns="0" bIns="0">
            <a:spAutoFit/>
          </a:bodyPr>
          <a:lstStyle/>
          <a:p>
            <a:pPr>
              <a:spcAft>
                <a:spcPts val="800"/>
              </a:spcAft>
              <a:defRPr sz="2200" b="1">
                <a:solidFill>
                  <a:srgbClr val="112F40"/>
                </a:solidFill>
                <a:latin typeface="Arial"/>
              </a:defRPr>
            </a:pPr>
            <a:r>
              <a:t>Ownership history</a:t>
            </a:r>
          </a:p>
        </p:txBody>
      </p:sp>
      <p:sp>
        <p:nvSpPr>
          <p:cNvPr id="11" name="TextBox 10"/>
          <p:cNvSpPr txBox="1"/>
          <p:nvPr/>
        </p:nvSpPr>
        <p:spPr>
          <a:xfrm>
            <a:off x="777240" y="3520440"/>
            <a:ext cx="2148840" cy="365760"/>
          </a:xfrm>
          <a:prstGeom prst="rect">
            <a:avLst/>
          </a:prstGeom>
          <a:noFill/>
        </p:spPr>
        <p:txBody>
          <a:bodyPr wrap="square" lIns="0" rIns="0" tIns="0" bIns="0">
            <a:spAutoFit/>
          </a:bodyPr>
          <a:lstStyle/>
          <a:p>
            <a:pPr>
              <a:spcAft>
                <a:spcPts val="800"/>
              </a:spcAft>
              <a:defRPr sz="1400" b="0">
                <a:solidFill>
                  <a:srgbClr val="607781"/>
                </a:solidFill>
                <a:latin typeface="Arial"/>
              </a:defRPr>
            </a:pPr>
            <a:r>
              <a:t>Baseline + sourced events</a:t>
            </a:r>
          </a:p>
        </p:txBody>
      </p:sp>
      <p:sp>
        <p:nvSpPr>
          <p:cNvPr id="12" name="TextBox 11"/>
          <p:cNvSpPr txBox="1"/>
          <p:nvPr/>
        </p:nvSpPr>
        <p:spPr>
          <a:xfrm>
            <a:off x="3191256" y="2724912"/>
            <a:ext cx="219456" cy="457200"/>
          </a:xfrm>
          <a:prstGeom prst="rect">
            <a:avLst/>
          </a:prstGeom>
          <a:noFill/>
        </p:spPr>
        <p:txBody>
          <a:bodyPr wrap="square" lIns="0" rIns="0" tIns="0" bIns="0">
            <a:spAutoFit/>
          </a:bodyPr>
          <a:lstStyle/>
          <a:p>
            <a:pPr>
              <a:spcAft>
                <a:spcPts val="800"/>
              </a:spcAft>
              <a:defRPr sz="2600" b="1">
                <a:solidFill>
                  <a:srgbClr val="087F73"/>
                </a:solidFill>
                <a:latin typeface="Arial"/>
              </a:defRPr>
            </a:pPr>
            <a:r>
              <a:t>›</a:t>
            </a:r>
          </a:p>
        </p:txBody>
      </p:sp>
      <p:sp>
        <p:nvSpPr>
          <p:cNvPr id="13" name="Rounded Rectangle 12"/>
          <p:cNvSpPr/>
          <p:nvPr/>
        </p:nvSpPr>
        <p:spPr>
          <a:xfrm>
            <a:off x="3410712" y="1920240"/>
            <a:ext cx="2551176" cy="2057400"/>
          </a:xfrm>
          <a:prstGeom prst="roundRect">
            <a:avLst>
              <a:gd name="adj" fmla="val 12000"/>
            </a:avLst>
          </a:prstGeom>
          <a:solidFill>
            <a:srgbClr val="FFFFFF"/>
          </a:solidFill>
          <a:ln>
            <a:solidFill>
              <a:srgbClr val="DCE7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3593592" y="2121408"/>
            <a:ext cx="438912" cy="310896"/>
          </a:xfrm>
          <a:prstGeom prst="roundRect">
            <a:avLst>
              <a:gd name="adj" fmla="val 12000"/>
            </a:avLst>
          </a:prstGeom>
          <a:solidFill>
            <a:srgbClr val="087F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85032" y="2180844"/>
            <a:ext cx="256031" cy="182880"/>
          </a:xfrm>
          <a:prstGeom prst="rect">
            <a:avLst/>
          </a:prstGeom>
          <a:noFill/>
        </p:spPr>
        <p:txBody>
          <a:bodyPr wrap="square" lIns="0" rIns="0" tIns="0" bIns="0">
            <a:spAutoFit/>
          </a:bodyPr>
          <a:lstStyle/>
          <a:p>
            <a:pPr>
              <a:spcAft>
                <a:spcPts val="800"/>
              </a:spcAft>
              <a:defRPr sz="900" b="1">
                <a:solidFill>
                  <a:srgbClr val="FFFFFF"/>
                </a:solidFill>
                <a:latin typeface="Arial"/>
              </a:defRPr>
            </a:pPr>
            <a:r>
              <a:t>02</a:t>
            </a:r>
          </a:p>
        </p:txBody>
      </p:sp>
      <p:sp>
        <p:nvSpPr>
          <p:cNvPr id="16" name="TextBox 15"/>
          <p:cNvSpPr txBox="1"/>
          <p:nvPr/>
        </p:nvSpPr>
        <p:spPr>
          <a:xfrm>
            <a:off x="3593592" y="2734056"/>
            <a:ext cx="2148840" cy="731520"/>
          </a:xfrm>
          <a:prstGeom prst="rect">
            <a:avLst/>
          </a:prstGeom>
          <a:noFill/>
        </p:spPr>
        <p:txBody>
          <a:bodyPr wrap="square" lIns="0" rIns="0" tIns="0" bIns="0">
            <a:spAutoFit/>
          </a:bodyPr>
          <a:lstStyle/>
          <a:p>
            <a:pPr>
              <a:spcAft>
                <a:spcPts val="800"/>
              </a:spcAft>
              <a:defRPr sz="2200" b="1">
                <a:solidFill>
                  <a:srgbClr val="112F40"/>
                </a:solidFill>
                <a:latin typeface="Arial"/>
              </a:defRPr>
            </a:pPr>
            <a:r>
              <a:t>Expected shares</a:t>
            </a:r>
          </a:p>
        </p:txBody>
      </p:sp>
      <p:sp>
        <p:nvSpPr>
          <p:cNvPr id="17" name="TextBox 16"/>
          <p:cNvSpPr txBox="1"/>
          <p:nvPr/>
        </p:nvSpPr>
        <p:spPr>
          <a:xfrm>
            <a:off x="3593592" y="3520440"/>
            <a:ext cx="2148840" cy="365760"/>
          </a:xfrm>
          <a:prstGeom prst="rect">
            <a:avLst/>
          </a:prstGeom>
          <a:noFill/>
        </p:spPr>
        <p:txBody>
          <a:bodyPr wrap="square" lIns="0" rIns="0" tIns="0" bIns="0">
            <a:spAutoFit/>
          </a:bodyPr>
          <a:lstStyle/>
          <a:p>
            <a:pPr>
              <a:spcAft>
                <a:spcPts val="800"/>
              </a:spcAft>
              <a:defRPr sz="1400" b="0">
                <a:solidFill>
                  <a:srgbClr val="607781"/>
                </a:solidFill>
                <a:latin typeface="Arial"/>
              </a:defRPr>
            </a:pPr>
            <a:r>
              <a:t>Replay exact allocations</a:t>
            </a:r>
          </a:p>
        </p:txBody>
      </p:sp>
      <p:sp>
        <p:nvSpPr>
          <p:cNvPr id="18" name="TextBox 17"/>
          <p:cNvSpPr txBox="1"/>
          <p:nvPr/>
        </p:nvSpPr>
        <p:spPr>
          <a:xfrm>
            <a:off x="6007608" y="2724912"/>
            <a:ext cx="219456" cy="457200"/>
          </a:xfrm>
          <a:prstGeom prst="rect">
            <a:avLst/>
          </a:prstGeom>
          <a:noFill/>
        </p:spPr>
        <p:txBody>
          <a:bodyPr wrap="square" lIns="0" rIns="0" tIns="0" bIns="0">
            <a:spAutoFit/>
          </a:bodyPr>
          <a:lstStyle/>
          <a:p>
            <a:pPr>
              <a:spcAft>
                <a:spcPts val="800"/>
              </a:spcAft>
              <a:defRPr sz="2600" b="1">
                <a:solidFill>
                  <a:srgbClr val="087F73"/>
                </a:solidFill>
                <a:latin typeface="Arial"/>
              </a:defRPr>
            </a:pPr>
            <a:r>
              <a:t>›</a:t>
            </a:r>
          </a:p>
        </p:txBody>
      </p:sp>
      <p:sp>
        <p:nvSpPr>
          <p:cNvPr id="19" name="Rounded Rectangle 18"/>
          <p:cNvSpPr/>
          <p:nvPr/>
        </p:nvSpPr>
        <p:spPr>
          <a:xfrm>
            <a:off x="6227064" y="1920240"/>
            <a:ext cx="2551176" cy="2057400"/>
          </a:xfrm>
          <a:prstGeom prst="roundRect">
            <a:avLst>
              <a:gd name="adj" fmla="val 12000"/>
            </a:avLst>
          </a:prstGeom>
          <a:solidFill>
            <a:srgbClr val="FFFFFF"/>
          </a:solidFill>
          <a:ln>
            <a:solidFill>
              <a:srgbClr val="DCE7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409944" y="2121408"/>
            <a:ext cx="438912" cy="310896"/>
          </a:xfrm>
          <a:prstGeom prst="roundRect">
            <a:avLst>
              <a:gd name="adj" fmla="val 12000"/>
            </a:avLst>
          </a:prstGeom>
          <a:solidFill>
            <a:srgbClr val="087F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01384" y="2180844"/>
            <a:ext cx="256031" cy="182880"/>
          </a:xfrm>
          <a:prstGeom prst="rect">
            <a:avLst/>
          </a:prstGeom>
          <a:noFill/>
        </p:spPr>
        <p:txBody>
          <a:bodyPr wrap="square" lIns="0" rIns="0" tIns="0" bIns="0">
            <a:spAutoFit/>
          </a:bodyPr>
          <a:lstStyle/>
          <a:p>
            <a:pPr>
              <a:spcAft>
                <a:spcPts val="800"/>
              </a:spcAft>
              <a:defRPr sz="900" b="1">
                <a:solidFill>
                  <a:srgbClr val="FFFFFF"/>
                </a:solidFill>
                <a:latin typeface="Arial"/>
              </a:defRPr>
            </a:pPr>
            <a:r>
              <a:t>03</a:t>
            </a:r>
          </a:p>
        </p:txBody>
      </p:sp>
      <p:sp>
        <p:nvSpPr>
          <p:cNvPr id="22" name="TextBox 21"/>
          <p:cNvSpPr txBox="1"/>
          <p:nvPr/>
        </p:nvSpPr>
        <p:spPr>
          <a:xfrm>
            <a:off x="6409944" y="2734056"/>
            <a:ext cx="2148840" cy="731520"/>
          </a:xfrm>
          <a:prstGeom prst="rect">
            <a:avLst/>
          </a:prstGeom>
          <a:noFill/>
        </p:spPr>
        <p:txBody>
          <a:bodyPr wrap="square" lIns="0" rIns="0" tIns="0" bIns="0">
            <a:spAutoFit/>
          </a:bodyPr>
          <a:lstStyle/>
          <a:p>
            <a:pPr>
              <a:spcAft>
                <a:spcPts val="800"/>
              </a:spcAft>
              <a:defRPr sz="2200" b="1">
                <a:solidFill>
                  <a:srgbClr val="112F40"/>
                </a:solidFill>
                <a:latin typeface="Arial"/>
              </a:defRPr>
            </a:pPr>
            <a:r>
              <a:t>Mutation comparison</a:t>
            </a:r>
          </a:p>
        </p:txBody>
      </p:sp>
      <p:sp>
        <p:nvSpPr>
          <p:cNvPr id="23" name="TextBox 22"/>
          <p:cNvSpPr txBox="1"/>
          <p:nvPr/>
        </p:nvSpPr>
        <p:spPr>
          <a:xfrm>
            <a:off x="6409944" y="3520440"/>
            <a:ext cx="2148840" cy="365760"/>
          </a:xfrm>
          <a:prstGeom prst="rect">
            <a:avLst/>
          </a:prstGeom>
          <a:noFill/>
        </p:spPr>
        <p:txBody>
          <a:bodyPr wrap="square" lIns="0" rIns="0" tIns="0" bIns="0">
            <a:spAutoFit/>
          </a:bodyPr>
          <a:lstStyle/>
          <a:p>
            <a:pPr>
              <a:spcAft>
                <a:spcPts val="800"/>
              </a:spcAft>
              <a:defRPr sz="1400" b="0">
                <a:solidFill>
                  <a:srgbClr val="607781"/>
                </a:solidFill>
                <a:latin typeface="Arial"/>
              </a:defRPr>
            </a:pPr>
            <a:r>
              <a:t>Check every owner</a:t>
            </a:r>
          </a:p>
        </p:txBody>
      </p:sp>
      <p:sp>
        <p:nvSpPr>
          <p:cNvPr id="24" name="TextBox 23"/>
          <p:cNvSpPr txBox="1"/>
          <p:nvPr/>
        </p:nvSpPr>
        <p:spPr>
          <a:xfrm>
            <a:off x="8823960" y="2724912"/>
            <a:ext cx="219456" cy="457200"/>
          </a:xfrm>
          <a:prstGeom prst="rect">
            <a:avLst/>
          </a:prstGeom>
          <a:noFill/>
        </p:spPr>
        <p:txBody>
          <a:bodyPr wrap="square" lIns="0" rIns="0" tIns="0" bIns="0">
            <a:spAutoFit/>
          </a:bodyPr>
          <a:lstStyle/>
          <a:p>
            <a:pPr>
              <a:spcAft>
                <a:spcPts val="800"/>
              </a:spcAft>
              <a:defRPr sz="2600" b="1">
                <a:solidFill>
                  <a:srgbClr val="087F73"/>
                </a:solidFill>
                <a:latin typeface="Arial"/>
              </a:defRPr>
            </a:pPr>
            <a:r>
              <a:t>›</a:t>
            </a:r>
          </a:p>
        </p:txBody>
      </p:sp>
      <p:sp>
        <p:nvSpPr>
          <p:cNvPr id="25" name="Rounded Rectangle 24"/>
          <p:cNvSpPr/>
          <p:nvPr/>
        </p:nvSpPr>
        <p:spPr>
          <a:xfrm>
            <a:off x="9043416" y="1920240"/>
            <a:ext cx="2551176" cy="2057400"/>
          </a:xfrm>
          <a:prstGeom prst="roundRect">
            <a:avLst>
              <a:gd name="adj" fmla="val 12000"/>
            </a:avLst>
          </a:prstGeom>
          <a:solidFill>
            <a:srgbClr val="FFFFFF"/>
          </a:solidFill>
          <a:ln>
            <a:solidFill>
              <a:srgbClr val="DCE7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9226296" y="2121408"/>
            <a:ext cx="438912" cy="310896"/>
          </a:xfrm>
          <a:prstGeom prst="roundRect">
            <a:avLst>
              <a:gd name="adj" fmla="val 12000"/>
            </a:avLst>
          </a:prstGeom>
          <a:solidFill>
            <a:srgbClr val="087F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317736" y="2180844"/>
            <a:ext cx="256031" cy="182880"/>
          </a:xfrm>
          <a:prstGeom prst="rect">
            <a:avLst/>
          </a:prstGeom>
          <a:noFill/>
        </p:spPr>
        <p:txBody>
          <a:bodyPr wrap="square" lIns="0" rIns="0" tIns="0" bIns="0">
            <a:spAutoFit/>
          </a:bodyPr>
          <a:lstStyle/>
          <a:p>
            <a:pPr>
              <a:spcAft>
                <a:spcPts val="800"/>
              </a:spcAft>
              <a:defRPr sz="900" b="1">
                <a:solidFill>
                  <a:srgbClr val="FFFFFF"/>
                </a:solidFill>
                <a:latin typeface="Arial"/>
              </a:defRPr>
            </a:pPr>
            <a:r>
              <a:t>04</a:t>
            </a:r>
          </a:p>
        </p:txBody>
      </p:sp>
      <p:sp>
        <p:nvSpPr>
          <p:cNvPr id="28" name="TextBox 27"/>
          <p:cNvSpPr txBox="1"/>
          <p:nvPr/>
        </p:nvSpPr>
        <p:spPr>
          <a:xfrm>
            <a:off x="9226296" y="2734056"/>
            <a:ext cx="2148840" cy="731520"/>
          </a:xfrm>
          <a:prstGeom prst="rect">
            <a:avLst/>
          </a:prstGeom>
          <a:noFill/>
        </p:spPr>
        <p:txBody>
          <a:bodyPr wrap="square" lIns="0" rIns="0" tIns="0" bIns="0">
            <a:spAutoFit/>
          </a:bodyPr>
          <a:lstStyle/>
          <a:p>
            <a:pPr>
              <a:spcAft>
                <a:spcPts val="800"/>
              </a:spcAft>
              <a:defRPr sz="2200" b="1">
                <a:solidFill>
                  <a:srgbClr val="112F40"/>
                </a:solidFill>
                <a:latin typeface="Arial"/>
              </a:defRPr>
            </a:pPr>
            <a:r>
              <a:t>Evidence &amp; review</a:t>
            </a:r>
          </a:p>
        </p:txBody>
      </p:sp>
      <p:sp>
        <p:nvSpPr>
          <p:cNvPr id="29" name="TextBox 28"/>
          <p:cNvSpPr txBox="1"/>
          <p:nvPr/>
        </p:nvSpPr>
        <p:spPr>
          <a:xfrm>
            <a:off x="9226296" y="3520440"/>
            <a:ext cx="2148840" cy="365760"/>
          </a:xfrm>
          <a:prstGeom prst="rect">
            <a:avLst/>
          </a:prstGeom>
          <a:noFill/>
        </p:spPr>
        <p:txBody>
          <a:bodyPr wrap="square" lIns="0" rIns="0" tIns="0" bIns="0">
            <a:spAutoFit/>
          </a:bodyPr>
          <a:lstStyle/>
          <a:p>
            <a:pPr>
              <a:spcAft>
                <a:spcPts val="800"/>
              </a:spcAft>
              <a:defRPr sz="1400" b="0">
                <a:solidFill>
                  <a:srgbClr val="607781"/>
                </a:solidFill>
                <a:latin typeface="Arial"/>
              </a:defRPr>
            </a:pPr>
            <a:r>
              <a:t>Explain, review, retain</a:t>
            </a:r>
          </a:p>
        </p:txBody>
      </p:sp>
      <p:sp>
        <p:nvSpPr>
          <p:cNvPr id="30" name="Rounded Rectangle 29"/>
          <p:cNvSpPr/>
          <p:nvPr/>
        </p:nvSpPr>
        <p:spPr>
          <a:xfrm>
            <a:off x="594360" y="4434840"/>
            <a:ext cx="6720840" cy="1444752"/>
          </a:xfrm>
          <a:prstGeom prst="roundRect">
            <a:avLst>
              <a:gd name="adj" fmla="val 12000"/>
            </a:avLst>
          </a:prstGeom>
          <a:solidFill>
            <a:srgbClr val="E7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22960" y="4663440"/>
            <a:ext cx="6263640" cy="365760"/>
          </a:xfrm>
          <a:prstGeom prst="rect">
            <a:avLst/>
          </a:prstGeom>
          <a:noFill/>
        </p:spPr>
        <p:txBody>
          <a:bodyPr wrap="square" lIns="0" rIns="0" tIns="0" bIns="0">
            <a:spAutoFit/>
          </a:bodyPr>
          <a:lstStyle/>
          <a:p>
            <a:pPr>
              <a:spcAft>
                <a:spcPts val="800"/>
              </a:spcAft>
              <a:defRPr sz="2200" b="1">
                <a:solidFill>
                  <a:srgbClr val="087F73"/>
                </a:solidFill>
                <a:latin typeface="Arial"/>
              </a:defRPr>
            </a:pPr>
            <a:r>
              <a:t>Evidence comes before certainty.</a:t>
            </a:r>
          </a:p>
        </p:txBody>
      </p:sp>
      <p:sp>
        <p:nvSpPr>
          <p:cNvPr id="32" name="TextBox 31"/>
          <p:cNvSpPr txBox="1"/>
          <p:nvPr/>
        </p:nvSpPr>
        <p:spPr>
          <a:xfrm>
            <a:off x="822960" y="5166360"/>
            <a:ext cx="6263640" cy="457200"/>
          </a:xfrm>
          <a:prstGeom prst="rect">
            <a:avLst/>
          </a:prstGeom>
          <a:noFill/>
        </p:spPr>
        <p:txBody>
          <a:bodyPr wrap="square" lIns="0" rIns="0" tIns="0" bIns="0">
            <a:spAutoFit/>
          </a:bodyPr>
          <a:lstStyle/>
          <a:p>
            <a:pPr>
              <a:spcAft>
                <a:spcPts val="800"/>
              </a:spcAft>
              <a:defRPr sz="1700" b="0">
                <a:solidFill>
                  <a:srgbClr val="183544"/>
                </a:solidFill>
                <a:latin typeface="Arial"/>
              </a:defRPr>
            </a:pPr>
            <a:r>
              <a:t>Missing sources or unclear event order prevent a false MATCH.</a:t>
            </a:r>
          </a:p>
        </p:txBody>
      </p:sp>
      <p:sp>
        <p:nvSpPr>
          <p:cNvPr id="33" name="TextBox 32"/>
          <p:cNvSpPr txBox="1"/>
          <p:nvPr/>
        </p:nvSpPr>
        <p:spPr>
          <a:xfrm>
            <a:off x="7772400" y="4572000"/>
            <a:ext cx="3767328" cy="502920"/>
          </a:xfrm>
          <a:prstGeom prst="rect">
            <a:avLst/>
          </a:prstGeom>
          <a:noFill/>
        </p:spPr>
        <p:txBody>
          <a:bodyPr wrap="square" lIns="0" rIns="0" tIns="0" bIns="0">
            <a:spAutoFit/>
          </a:bodyPr>
          <a:lstStyle/>
          <a:p>
            <a:pPr>
              <a:spcAft>
                <a:spcPts val="800"/>
              </a:spcAft>
              <a:defRPr sz="2000" b="1">
                <a:solidFill>
                  <a:srgbClr val="112F40"/>
                </a:solidFill>
                <a:latin typeface="Arial"/>
              </a:defRPr>
            </a:pPr>
            <a:r>
              <a:t>Keep three records separate</a:t>
            </a:r>
          </a:p>
        </p:txBody>
      </p:sp>
      <p:sp>
        <p:nvSpPr>
          <p:cNvPr id="34" name="TextBox 33"/>
          <p:cNvSpPr txBox="1"/>
          <p:nvPr/>
        </p:nvSpPr>
        <p:spPr>
          <a:xfrm>
            <a:off x="7772400" y="5138928"/>
            <a:ext cx="3767328" cy="731520"/>
          </a:xfrm>
          <a:prstGeom prst="rect">
            <a:avLst/>
          </a:prstGeom>
          <a:noFill/>
        </p:spPr>
        <p:txBody>
          <a:bodyPr wrap="square" lIns="0" rIns="0" tIns="0" bIns="0">
            <a:spAutoFit/>
          </a:bodyPr>
          <a:lstStyle/>
          <a:p>
            <a:pPr>
              <a:spcAft>
                <a:spcPts val="800"/>
              </a:spcAft>
              <a:defRPr sz="1600" b="0">
                <a:solidFill>
                  <a:srgbClr val="607781"/>
                </a:solidFill>
                <a:latin typeface="Arial"/>
              </a:defRPr>
            </a:pPr>
            <a:r>
              <a:t>Baseline  ·  Events  ·  Mutation</a:t>
            </a:r>
          </a:p>
          <a:p>
            <a:pPr>
              <a:spcAft>
                <a:spcPts val="800"/>
              </a:spcAft>
              <a:defRPr sz="1600" b="0">
                <a:solidFill>
                  <a:srgbClr val="607781"/>
                </a:solidFill>
                <a:latin typeface="Arial"/>
              </a:defRPr>
            </a:pPr>
            <a:r>
              <a:t>A mutation never overwrites the expected history.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8F8"/>
        </a:solidFill>
        <a:effectLst/>
      </p:bgPr>
    </p:bg>
    <p:spTree>
      <p:nvGrpSpPr>
        <p:cNvPr id="1" name=""/>
        <p:cNvGrpSpPr/>
        <p:nvPr/>
      </p:nvGrpSpPr>
      <p:grpSpPr/>
      <p:sp>
        <p:nvSpPr>
          <p:cNvPr id="2" name="TextBox 1"/>
          <p:cNvSpPr txBox="1"/>
          <p:nvPr/>
        </p:nvSpPr>
        <p:spPr>
          <a:xfrm>
            <a:off x="594360" y="292608"/>
            <a:ext cx="10058400" cy="228600"/>
          </a:xfrm>
          <a:prstGeom prst="rect">
            <a:avLst/>
          </a:prstGeom>
          <a:noFill/>
        </p:spPr>
        <p:txBody>
          <a:bodyPr wrap="square" lIns="0" rIns="0" tIns="0" bIns="0">
            <a:spAutoFit/>
          </a:bodyPr>
          <a:lstStyle/>
          <a:p>
            <a:pPr>
              <a:spcAft>
                <a:spcPts val="800"/>
              </a:spcAft>
              <a:defRPr sz="1000" b="1">
                <a:solidFill>
                  <a:srgbClr val="087F73"/>
                </a:solidFill>
                <a:latin typeface="Arial"/>
              </a:defRPr>
            </a:pPr>
            <a:r>
              <a:t>04 / LIVE EXAMPLE — CONCEPT-NOTE SCENARIO</a:t>
            </a:r>
          </a:p>
        </p:txBody>
      </p:sp>
      <p:sp>
        <p:nvSpPr>
          <p:cNvPr id="3" name="TextBox 2"/>
          <p:cNvSpPr txBox="1"/>
          <p:nvPr/>
        </p:nvSpPr>
        <p:spPr>
          <a:xfrm>
            <a:off x="594360" y="813816"/>
            <a:ext cx="10972800" cy="1005840"/>
          </a:xfrm>
          <a:prstGeom prst="rect">
            <a:avLst/>
          </a:prstGeom>
          <a:noFill/>
        </p:spPr>
        <p:txBody>
          <a:bodyPr wrap="square" lIns="0" rIns="0" tIns="0" bIns="0">
            <a:spAutoFit/>
          </a:bodyPr>
          <a:lstStyle/>
          <a:p>
            <a:pPr>
              <a:spcAft>
                <a:spcPts val="800"/>
              </a:spcAft>
              <a:defRPr sz="3300" b="1">
                <a:solidFill>
                  <a:srgbClr val="112F40"/>
                </a:solidFill>
                <a:latin typeface="Arial"/>
              </a:defRPr>
            </a:pPr>
            <a:r>
              <a:t>100 decimals. A hidden 10-decimal shift.</a:t>
            </a:r>
          </a:p>
        </p:txBody>
      </p:sp>
      <p:sp>
        <p:nvSpPr>
          <p:cNvPr id="4" name="Rectangle 3"/>
          <p:cNvSpPr/>
          <p:nvPr/>
        </p:nvSpPr>
        <p:spPr>
          <a:xfrm>
            <a:off x="594360" y="6437376"/>
            <a:ext cx="11000232" cy="10972"/>
          </a:xfrm>
          <a:prstGeom prst="rect">
            <a:avLst/>
          </a:prstGeom>
          <a:solidFill>
            <a:srgbClr val="DCE7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6537960"/>
            <a:ext cx="8229600" cy="182880"/>
          </a:xfrm>
          <a:prstGeom prst="rect">
            <a:avLst/>
          </a:prstGeom>
          <a:noFill/>
        </p:spPr>
        <p:txBody>
          <a:bodyPr wrap="square" lIns="0" rIns="0" tIns="0" bIns="0">
            <a:spAutoFit/>
          </a:bodyPr>
          <a:lstStyle/>
          <a:p>
            <a:pPr>
              <a:spcAft>
                <a:spcPts val="800"/>
              </a:spcAft>
              <a:defRPr sz="800" b="0">
                <a:solidFill>
                  <a:srgbClr val="607781"/>
                </a:solidFill>
                <a:latin typeface="Arial"/>
              </a:defRPr>
            </a:pPr>
            <a:r>
              <a:t>BHUMI  /  LANDTECH 2026  /  P4 — SMART E-MUTATION &amp; REGISTRY</a:t>
            </a:r>
          </a:p>
        </p:txBody>
      </p:sp>
      <p:sp>
        <p:nvSpPr>
          <p:cNvPr id="6" name="TextBox 5"/>
          <p:cNvSpPr txBox="1"/>
          <p:nvPr/>
        </p:nvSpPr>
        <p:spPr>
          <a:xfrm>
            <a:off x="10972800" y="6510528"/>
            <a:ext cx="594360" cy="228600"/>
          </a:xfrm>
          <a:prstGeom prst="rect">
            <a:avLst/>
          </a:prstGeom>
          <a:noFill/>
        </p:spPr>
        <p:txBody>
          <a:bodyPr wrap="square" lIns="0" rIns="0" tIns="0" bIns="0">
            <a:spAutoFit/>
          </a:bodyPr>
          <a:lstStyle/>
          <a:p>
            <a:pPr algn="r">
              <a:spcAft>
                <a:spcPts val="800"/>
              </a:spcAft>
              <a:defRPr sz="900" b="0">
                <a:solidFill>
                  <a:srgbClr val="607781"/>
                </a:solidFill>
                <a:latin typeface="Arial"/>
              </a:defRPr>
            </a:pPr>
            <a:r>
              <a:t>05 / 09</a:t>
            </a:r>
          </a:p>
        </p:txBody>
      </p:sp>
      <p:sp>
        <p:nvSpPr>
          <p:cNvPr id="7" name="TextBox 6"/>
          <p:cNvSpPr txBox="1"/>
          <p:nvPr/>
        </p:nvSpPr>
        <p:spPr>
          <a:xfrm>
            <a:off x="612648" y="1691640"/>
            <a:ext cx="10789920" cy="566928"/>
          </a:xfrm>
          <a:prstGeom prst="rect">
            <a:avLst/>
          </a:prstGeom>
          <a:noFill/>
        </p:spPr>
        <p:txBody>
          <a:bodyPr wrap="square" lIns="0" rIns="0" tIns="0" bIns="0">
            <a:spAutoFit/>
          </a:bodyPr>
          <a:lstStyle/>
          <a:p>
            <a:pPr>
              <a:spcAft>
                <a:spcPts val="800"/>
              </a:spcAft>
              <a:defRPr sz="2100" b="0">
                <a:solidFill>
                  <a:srgbClr val="607781"/>
                </a:solidFill>
                <a:latin typeface="Arial"/>
              </a:defRPr>
            </a:pPr>
            <a:r>
              <a:t>Fictional Rahim holds 60; Karim holds 40. Rahim sells 25 to fictional buyer Nabila.</a:t>
            </a:r>
          </a:p>
        </p:txBody>
      </p:sp>
      <p:sp>
        <p:nvSpPr>
          <p:cNvPr id="8" name="Rectangle 7"/>
          <p:cNvSpPr/>
          <p:nvPr/>
        </p:nvSpPr>
        <p:spPr>
          <a:xfrm>
            <a:off x="594360" y="2505456"/>
            <a:ext cx="3200400" cy="484632"/>
          </a:xfrm>
          <a:prstGeom prst="rect">
            <a:avLst/>
          </a:prstGeom>
          <a:solidFill>
            <a:srgbClr val="112F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651760"/>
            <a:ext cx="2834640" cy="201168"/>
          </a:xfrm>
          <a:prstGeom prst="rect">
            <a:avLst/>
          </a:prstGeom>
          <a:noFill/>
        </p:spPr>
        <p:txBody>
          <a:bodyPr wrap="square" lIns="0" rIns="0" tIns="0" bIns="0">
            <a:spAutoFit/>
          </a:bodyPr>
          <a:lstStyle/>
          <a:p>
            <a:pPr>
              <a:spcAft>
                <a:spcPts val="800"/>
              </a:spcAft>
              <a:defRPr sz="1100" b="1">
                <a:solidFill>
                  <a:srgbClr val="FFFFFF"/>
                </a:solidFill>
                <a:latin typeface="Arial"/>
              </a:defRPr>
            </a:pPr>
            <a:r>
              <a:t>PARTY</a:t>
            </a:r>
          </a:p>
        </p:txBody>
      </p:sp>
      <p:sp>
        <p:nvSpPr>
          <p:cNvPr id="10" name="Rectangle 9"/>
          <p:cNvSpPr/>
          <p:nvPr/>
        </p:nvSpPr>
        <p:spPr>
          <a:xfrm>
            <a:off x="3794760" y="2505456"/>
            <a:ext cx="2697480" cy="484632"/>
          </a:xfrm>
          <a:prstGeom prst="rect">
            <a:avLst/>
          </a:prstGeom>
          <a:solidFill>
            <a:srgbClr val="112F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977640" y="2651760"/>
            <a:ext cx="2331720" cy="201168"/>
          </a:xfrm>
          <a:prstGeom prst="rect">
            <a:avLst/>
          </a:prstGeom>
          <a:noFill/>
        </p:spPr>
        <p:txBody>
          <a:bodyPr wrap="square" lIns="0" rIns="0" tIns="0" bIns="0">
            <a:spAutoFit/>
          </a:bodyPr>
          <a:lstStyle/>
          <a:p>
            <a:pPr>
              <a:spcAft>
                <a:spcPts val="800"/>
              </a:spcAft>
              <a:defRPr sz="1100" b="1">
                <a:solidFill>
                  <a:srgbClr val="FFFFFF"/>
                </a:solidFill>
                <a:latin typeface="Arial"/>
              </a:defRPr>
            </a:pPr>
            <a:r>
              <a:t>EXPECTED</a:t>
            </a:r>
          </a:p>
        </p:txBody>
      </p:sp>
      <p:sp>
        <p:nvSpPr>
          <p:cNvPr id="12" name="Rectangle 11"/>
          <p:cNvSpPr/>
          <p:nvPr/>
        </p:nvSpPr>
        <p:spPr>
          <a:xfrm>
            <a:off x="6492240" y="2505456"/>
            <a:ext cx="2697480" cy="484632"/>
          </a:xfrm>
          <a:prstGeom prst="rect">
            <a:avLst/>
          </a:prstGeom>
          <a:solidFill>
            <a:srgbClr val="112F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75120" y="2651760"/>
            <a:ext cx="2331720" cy="201168"/>
          </a:xfrm>
          <a:prstGeom prst="rect">
            <a:avLst/>
          </a:prstGeom>
          <a:noFill/>
        </p:spPr>
        <p:txBody>
          <a:bodyPr wrap="square" lIns="0" rIns="0" tIns="0" bIns="0">
            <a:spAutoFit/>
          </a:bodyPr>
          <a:lstStyle/>
          <a:p>
            <a:pPr>
              <a:spcAft>
                <a:spcPts val="800"/>
              </a:spcAft>
              <a:defRPr sz="1100" b="1">
                <a:solidFill>
                  <a:srgbClr val="FFFFFF"/>
                </a:solidFill>
                <a:latin typeface="Arial"/>
              </a:defRPr>
            </a:pPr>
            <a:r>
              <a:t>MUTATION</a:t>
            </a:r>
          </a:p>
        </p:txBody>
      </p:sp>
      <p:sp>
        <p:nvSpPr>
          <p:cNvPr id="14" name="Rectangle 13"/>
          <p:cNvSpPr/>
          <p:nvPr/>
        </p:nvSpPr>
        <p:spPr>
          <a:xfrm>
            <a:off x="9189720" y="2505456"/>
            <a:ext cx="2414016" cy="484632"/>
          </a:xfrm>
          <a:prstGeom prst="rect">
            <a:avLst/>
          </a:prstGeom>
          <a:solidFill>
            <a:srgbClr val="112F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372600" y="2651760"/>
            <a:ext cx="2048256" cy="201168"/>
          </a:xfrm>
          <a:prstGeom prst="rect">
            <a:avLst/>
          </a:prstGeom>
          <a:noFill/>
        </p:spPr>
        <p:txBody>
          <a:bodyPr wrap="square" lIns="0" rIns="0" tIns="0" bIns="0">
            <a:spAutoFit/>
          </a:bodyPr>
          <a:lstStyle/>
          <a:p>
            <a:pPr>
              <a:spcAft>
                <a:spcPts val="800"/>
              </a:spcAft>
              <a:defRPr sz="1100" b="1">
                <a:solidFill>
                  <a:srgbClr val="FFFFFF"/>
                </a:solidFill>
                <a:latin typeface="Arial"/>
              </a:defRPr>
            </a:pPr>
            <a:r>
              <a:t>DIFFERENCE</a:t>
            </a:r>
          </a:p>
        </p:txBody>
      </p:sp>
      <p:sp>
        <p:nvSpPr>
          <p:cNvPr id="16" name="Rectangle 15"/>
          <p:cNvSpPr/>
          <p:nvPr/>
        </p:nvSpPr>
        <p:spPr>
          <a:xfrm>
            <a:off x="594360" y="2990088"/>
            <a:ext cx="3200400" cy="5486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3118104"/>
            <a:ext cx="2834640" cy="365760"/>
          </a:xfrm>
          <a:prstGeom prst="rect">
            <a:avLst/>
          </a:prstGeom>
          <a:noFill/>
        </p:spPr>
        <p:txBody>
          <a:bodyPr wrap="square" lIns="0" rIns="0" tIns="0" bIns="0">
            <a:spAutoFit/>
          </a:bodyPr>
          <a:lstStyle/>
          <a:p>
            <a:pPr>
              <a:spcAft>
                <a:spcPts val="800"/>
              </a:spcAft>
              <a:defRPr sz="2200" b="1">
                <a:solidFill>
                  <a:srgbClr val="183544"/>
                </a:solidFill>
                <a:latin typeface="Arial"/>
              </a:defRPr>
            </a:pPr>
            <a:r>
              <a:t>Rahim</a:t>
            </a:r>
          </a:p>
        </p:txBody>
      </p:sp>
      <p:sp>
        <p:nvSpPr>
          <p:cNvPr id="18" name="Rectangle 17"/>
          <p:cNvSpPr/>
          <p:nvPr/>
        </p:nvSpPr>
        <p:spPr>
          <a:xfrm>
            <a:off x="3794760" y="2990088"/>
            <a:ext cx="2697480" cy="5486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977640" y="3118104"/>
            <a:ext cx="2331720" cy="365760"/>
          </a:xfrm>
          <a:prstGeom prst="rect">
            <a:avLst/>
          </a:prstGeom>
          <a:noFill/>
        </p:spPr>
        <p:txBody>
          <a:bodyPr wrap="square" lIns="0" rIns="0" tIns="0" bIns="0">
            <a:spAutoFit/>
          </a:bodyPr>
          <a:lstStyle/>
          <a:p>
            <a:pPr>
              <a:spcAft>
                <a:spcPts val="800"/>
              </a:spcAft>
              <a:defRPr sz="2200" b="0">
                <a:solidFill>
                  <a:srgbClr val="183544"/>
                </a:solidFill>
                <a:latin typeface="Arial"/>
              </a:defRPr>
            </a:pPr>
            <a:r>
              <a:t>35</a:t>
            </a:r>
          </a:p>
        </p:txBody>
      </p:sp>
      <p:sp>
        <p:nvSpPr>
          <p:cNvPr id="20" name="Rectangle 19"/>
          <p:cNvSpPr/>
          <p:nvPr/>
        </p:nvSpPr>
        <p:spPr>
          <a:xfrm>
            <a:off x="6492240" y="2990088"/>
            <a:ext cx="2697480" cy="5486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675120" y="3118104"/>
            <a:ext cx="2331720" cy="365760"/>
          </a:xfrm>
          <a:prstGeom prst="rect">
            <a:avLst/>
          </a:prstGeom>
          <a:noFill/>
        </p:spPr>
        <p:txBody>
          <a:bodyPr wrap="square" lIns="0" rIns="0" tIns="0" bIns="0">
            <a:spAutoFit/>
          </a:bodyPr>
          <a:lstStyle/>
          <a:p>
            <a:pPr>
              <a:spcAft>
                <a:spcPts val="800"/>
              </a:spcAft>
              <a:defRPr sz="2200" b="0">
                <a:solidFill>
                  <a:srgbClr val="183544"/>
                </a:solidFill>
                <a:latin typeface="Arial"/>
              </a:defRPr>
            </a:pPr>
            <a:r>
              <a:t>35</a:t>
            </a:r>
          </a:p>
        </p:txBody>
      </p:sp>
      <p:sp>
        <p:nvSpPr>
          <p:cNvPr id="22" name="Rectangle 21"/>
          <p:cNvSpPr/>
          <p:nvPr/>
        </p:nvSpPr>
        <p:spPr>
          <a:xfrm>
            <a:off x="9189720" y="2990088"/>
            <a:ext cx="2414016" cy="5486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372600" y="3118104"/>
            <a:ext cx="2048256" cy="365760"/>
          </a:xfrm>
          <a:prstGeom prst="rect">
            <a:avLst/>
          </a:prstGeom>
          <a:noFill/>
        </p:spPr>
        <p:txBody>
          <a:bodyPr wrap="square" lIns="0" rIns="0" tIns="0" bIns="0">
            <a:spAutoFit/>
          </a:bodyPr>
          <a:lstStyle/>
          <a:p>
            <a:pPr>
              <a:spcAft>
                <a:spcPts val="800"/>
              </a:spcAft>
              <a:defRPr sz="2200" b="0">
                <a:solidFill>
                  <a:srgbClr val="183544"/>
                </a:solidFill>
                <a:latin typeface="Arial"/>
              </a:defRPr>
            </a:pPr>
            <a:r>
              <a:t>0</a:t>
            </a:r>
          </a:p>
        </p:txBody>
      </p:sp>
      <p:sp>
        <p:nvSpPr>
          <p:cNvPr id="24" name="Rectangle 23"/>
          <p:cNvSpPr/>
          <p:nvPr/>
        </p:nvSpPr>
        <p:spPr>
          <a:xfrm>
            <a:off x="594360" y="3557016"/>
            <a:ext cx="3200400" cy="548640"/>
          </a:xfrm>
          <a:prstGeom prst="rect">
            <a:avLst/>
          </a:prstGeom>
          <a:solidFill>
            <a:srgbClr val="FFF0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77240" y="3685032"/>
            <a:ext cx="2834640" cy="365760"/>
          </a:xfrm>
          <a:prstGeom prst="rect">
            <a:avLst/>
          </a:prstGeom>
          <a:noFill/>
        </p:spPr>
        <p:txBody>
          <a:bodyPr wrap="square" lIns="0" rIns="0" tIns="0" bIns="0">
            <a:spAutoFit/>
          </a:bodyPr>
          <a:lstStyle/>
          <a:p>
            <a:pPr>
              <a:spcAft>
                <a:spcPts val="800"/>
              </a:spcAft>
              <a:defRPr sz="2200" b="1">
                <a:solidFill>
                  <a:srgbClr val="183544"/>
                </a:solidFill>
                <a:latin typeface="Arial"/>
              </a:defRPr>
            </a:pPr>
            <a:r>
              <a:t>Karim</a:t>
            </a:r>
          </a:p>
        </p:txBody>
      </p:sp>
      <p:sp>
        <p:nvSpPr>
          <p:cNvPr id="26" name="Rectangle 25"/>
          <p:cNvSpPr/>
          <p:nvPr/>
        </p:nvSpPr>
        <p:spPr>
          <a:xfrm>
            <a:off x="3794760" y="3557016"/>
            <a:ext cx="2697480" cy="548640"/>
          </a:xfrm>
          <a:prstGeom prst="rect">
            <a:avLst/>
          </a:prstGeom>
          <a:solidFill>
            <a:srgbClr val="FFF0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977640" y="3685032"/>
            <a:ext cx="2331720" cy="365760"/>
          </a:xfrm>
          <a:prstGeom prst="rect">
            <a:avLst/>
          </a:prstGeom>
          <a:noFill/>
        </p:spPr>
        <p:txBody>
          <a:bodyPr wrap="square" lIns="0" rIns="0" tIns="0" bIns="0">
            <a:spAutoFit/>
          </a:bodyPr>
          <a:lstStyle/>
          <a:p>
            <a:pPr>
              <a:spcAft>
                <a:spcPts val="800"/>
              </a:spcAft>
              <a:defRPr sz="2200" b="0">
                <a:solidFill>
                  <a:srgbClr val="183544"/>
                </a:solidFill>
                <a:latin typeface="Arial"/>
              </a:defRPr>
            </a:pPr>
            <a:r>
              <a:t>40</a:t>
            </a:r>
          </a:p>
        </p:txBody>
      </p:sp>
      <p:sp>
        <p:nvSpPr>
          <p:cNvPr id="28" name="Rectangle 27"/>
          <p:cNvSpPr/>
          <p:nvPr/>
        </p:nvSpPr>
        <p:spPr>
          <a:xfrm>
            <a:off x="6492240" y="3557016"/>
            <a:ext cx="2697480" cy="548640"/>
          </a:xfrm>
          <a:prstGeom prst="rect">
            <a:avLst/>
          </a:prstGeom>
          <a:solidFill>
            <a:srgbClr val="FFF0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675120" y="3685032"/>
            <a:ext cx="2331720" cy="365760"/>
          </a:xfrm>
          <a:prstGeom prst="rect">
            <a:avLst/>
          </a:prstGeom>
          <a:noFill/>
        </p:spPr>
        <p:txBody>
          <a:bodyPr wrap="square" lIns="0" rIns="0" tIns="0" bIns="0">
            <a:spAutoFit/>
          </a:bodyPr>
          <a:lstStyle/>
          <a:p>
            <a:pPr>
              <a:spcAft>
                <a:spcPts val="800"/>
              </a:spcAft>
              <a:defRPr sz="2200" b="0">
                <a:solidFill>
                  <a:srgbClr val="183544"/>
                </a:solidFill>
                <a:latin typeface="Arial"/>
              </a:defRPr>
            </a:pPr>
            <a:r>
              <a:t>30</a:t>
            </a:r>
          </a:p>
        </p:txBody>
      </p:sp>
      <p:sp>
        <p:nvSpPr>
          <p:cNvPr id="30" name="Rectangle 29"/>
          <p:cNvSpPr/>
          <p:nvPr/>
        </p:nvSpPr>
        <p:spPr>
          <a:xfrm>
            <a:off x="9189720" y="3557016"/>
            <a:ext cx="2414016" cy="548640"/>
          </a:xfrm>
          <a:prstGeom prst="rect">
            <a:avLst/>
          </a:prstGeom>
          <a:solidFill>
            <a:srgbClr val="FFF0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372600" y="3685032"/>
            <a:ext cx="2048256" cy="365760"/>
          </a:xfrm>
          <a:prstGeom prst="rect">
            <a:avLst/>
          </a:prstGeom>
          <a:noFill/>
        </p:spPr>
        <p:txBody>
          <a:bodyPr wrap="square" lIns="0" rIns="0" tIns="0" bIns="0">
            <a:spAutoFit/>
          </a:bodyPr>
          <a:lstStyle/>
          <a:p>
            <a:pPr>
              <a:spcAft>
                <a:spcPts val="800"/>
              </a:spcAft>
              <a:defRPr sz="2200" b="0">
                <a:solidFill>
                  <a:srgbClr val="B34D38"/>
                </a:solidFill>
                <a:latin typeface="Arial"/>
              </a:defRPr>
            </a:pPr>
            <a:r>
              <a:t>−10</a:t>
            </a:r>
          </a:p>
        </p:txBody>
      </p:sp>
      <p:sp>
        <p:nvSpPr>
          <p:cNvPr id="32" name="Rectangle 31"/>
          <p:cNvSpPr/>
          <p:nvPr/>
        </p:nvSpPr>
        <p:spPr>
          <a:xfrm>
            <a:off x="594360" y="4123944"/>
            <a:ext cx="3200400" cy="548640"/>
          </a:xfrm>
          <a:prstGeom prst="rect">
            <a:avLst/>
          </a:prstGeom>
          <a:solidFill>
            <a:srgbClr val="FFF0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77240" y="4251959"/>
            <a:ext cx="2834640" cy="365760"/>
          </a:xfrm>
          <a:prstGeom prst="rect">
            <a:avLst/>
          </a:prstGeom>
          <a:noFill/>
        </p:spPr>
        <p:txBody>
          <a:bodyPr wrap="square" lIns="0" rIns="0" tIns="0" bIns="0">
            <a:spAutoFit/>
          </a:bodyPr>
          <a:lstStyle/>
          <a:p>
            <a:pPr>
              <a:spcAft>
                <a:spcPts val="800"/>
              </a:spcAft>
              <a:defRPr sz="2200" b="1">
                <a:solidFill>
                  <a:srgbClr val="183544"/>
                </a:solidFill>
                <a:latin typeface="Arial"/>
              </a:defRPr>
            </a:pPr>
            <a:r>
              <a:t>Nabila</a:t>
            </a:r>
          </a:p>
        </p:txBody>
      </p:sp>
      <p:sp>
        <p:nvSpPr>
          <p:cNvPr id="34" name="Rectangle 33"/>
          <p:cNvSpPr/>
          <p:nvPr/>
        </p:nvSpPr>
        <p:spPr>
          <a:xfrm>
            <a:off x="3794760" y="4123944"/>
            <a:ext cx="2697480" cy="548640"/>
          </a:xfrm>
          <a:prstGeom prst="rect">
            <a:avLst/>
          </a:prstGeom>
          <a:solidFill>
            <a:srgbClr val="FFF0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977640" y="4251959"/>
            <a:ext cx="2331720" cy="365760"/>
          </a:xfrm>
          <a:prstGeom prst="rect">
            <a:avLst/>
          </a:prstGeom>
          <a:noFill/>
        </p:spPr>
        <p:txBody>
          <a:bodyPr wrap="square" lIns="0" rIns="0" tIns="0" bIns="0">
            <a:spAutoFit/>
          </a:bodyPr>
          <a:lstStyle/>
          <a:p>
            <a:pPr>
              <a:spcAft>
                <a:spcPts val="800"/>
              </a:spcAft>
              <a:defRPr sz="2200" b="0">
                <a:solidFill>
                  <a:srgbClr val="183544"/>
                </a:solidFill>
                <a:latin typeface="Arial"/>
              </a:defRPr>
            </a:pPr>
            <a:r>
              <a:t>25</a:t>
            </a:r>
          </a:p>
        </p:txBody>
      </p:sp>
      <p:sp>
        <p:nvSpPr>
          <p:cNvPr id="36" name="Rectangle 35"/>
          <p:cNvSpPr/>
          <p:nvPr/>
        </p:nvSpPr>
        <p:spPr>
          <a:xfrm>
            <a:off x="6492240" y="4123944"/>
            <a:ext cx="2697480" cy="548640"/>
          </a:xfrm>
          <a:prstGeom prst="rect">
            <a:avLst/>
          </a:prstGeom>
          <a:solidFill>
            <a:srgbClr val="FFF0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675120" y="4251959"/>
            <a:ext cx="2331720" cy="365760"/>
          </a:xfrm>
          <a:prstGeom prst="rect">
            <a:avLst/>
          </a:prstGeom>
          <a:noFill/>
        </p:spPr>
        <p:txBody>
          <a:bodyPr wrap="square" lIns="0" rIns="0" tIns="0" bIns="0">
            <a:spAutoFit/>
          </a:bodyPr>
          <a:lstStyle/>
          <a:p>
            <a:pPr>
              <a:spcAft>
                <a:spcPts val="800"/>
              </a:spcAft>
              <a:defRPr sz="2200" b="0">
                <a:solidFill>
                  <a:srgbClr val="183544"/>
                </a:solidFill>
                <a:latin typeface="Arial"/>
              </a:defRPr>
            </a:pPr>
            <a:r>
              <a:t>35</a:t>
            </a:r>
          </a:p>
        </p:txBody>
      </p:sp>
      <p:sp>
        <p:nvSpPr>
          <p:cNvPr id="38" name="Rectangle 37"/>
          <p:cNvSpPr/>
          <p:nvPr/>
        </p:nvSpPr>
        <p:spPr>
          <a:xfrm>
            <a:off x="9189720" y="4123944"/>
            <a:ext cx="2414016" cy="548640"/>
          </a:xfrm>
          <a:prstGeom prst="rect">
            <a:avLst/>
          </a:prstGeom>
          <a:solidFill>
            <a:srgbClr val="FFF0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372600" y="4251959"/>
            <a:ext cx="2048256" cy="365760"/>
          </a:xfrm>
          <a:prstGeom prst="rect">
            <a:avLst/>
          </a:prstGeom>
          <a:noFill/>
        </p:spPr>
        <p:txBody>
          <a:bodyPr wrap="square" lIns="0" rIns="0" tIns="0" bIns="0">
            <a:spAutoFit/>
          </a:bodyPr>
          <a:lstStyle/>
          <a:p>
            <a:pPr>
              <a:spcAft>
                <a:spcPts val="800"/>
              </a:spcAft>
              <a:defRPr sz="2200" b="0">
                <a:solidFill>
                  <a:srgbClr val="B34D38"/>
                </a:solidFill>
                <a:latin typeface="Arial"/>
              </a:defRPr>
            </a:pPr>
            <a:r>
              <a:t>+10</a:t>
            </a:r>
          </a:p>
        </p:txBody>
      </p:sp>
      <p:sp>
        <p:nvSpPr>
          <p:cNvPr id="40" name="Rectangle 39"/>
          <p:cNvSpPr/>
          <p:nvPr/>
        </p:nvSpPr>
        <p:spPr>
          <a:xfrm>
            <a:off x="594360" y="4690872"/>
            <a:ext cx="3200400" cy="548640"/>
          </a:xfrm>
          <a:prstGeom prst="rect">
            <a:avLst/>
          </a:prstGeom>
          <a:solidFill>
            <a:srgbClr val="E6F0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77240" y="4818888"/>
            <a:ext cx="2834640" cy="365760"/>
          </a:xfrm>
          <a:prstGeom prst="rect">
            <a:avLst/>
          </a:prstGeom>
          <a:noFill/>
        </p:spPr>
        <p:txBody>
          <a:bodyPr wrap="square" lIns="0" rIns="0" tIns="0" bIns="0">
            <a:spAutoFit/>
          </a:bodyPr>
          <a:lstStyle/>
          <a:p>
            <a:pPr>
              <a:spcAft>
                <a:spcPts val="800"/>
              </a:spcAft>
              <a:defRPr sz="2200" b="1">
                <a:solidFill>
                  <a:srgbClr val="183544"/>
                </a:solidFill>
                <a:latin typeface="Arial"/>
              </a:defRPr>
            </a:pPr>
            <a:r>
              <a:t>TOTAL</a:t>
            </a:r>
          </a:p>
        </p:txBody>
      </p:sp>
      <p:sp>
        <p:nvSpPr>
          <p:cNvPr id="42" name="Rectangle 41"/>
          <p:cNvSpPr/>
          <p:nvPr/>
        </p:nvSpPr>
        <p:spPr>
          <a:xfrm>
            <a:off x="3794760" y="4690872"/>
            <a:ext cx="2697480" cy="548640"/>
          </a:xfrm>
          <a:prstGeom prst="rect">
            <a:avLst/>
          </a:prstGeom>
          <a:solidFill>
            <a:srgbClr val="E6F0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977640" y="4818888"/>
            <a:ext cx="2331720" cy="365760"/>
          </a:xfrm>
          <a:prstGeom prst="rect">
            <a:avLst/>
          </a:prstGeom>
          <a:noFill/>
        </p:spPr>
        <p:txBody>
          <a:bodyPr wrap="square" lIns="0" rIns="0" tIns="0" bIns="0">
            <a:spAutoFit/>
          </a:bodyPr>
          <a:lstStyle/>
          <a:p>
            <a:pPr>
              <a:spcAft>
                <a:spcPts val="800"/>
              </a:spcAft>
              <a:defRPr sz="2200" b="1">
                <a:solidFill>
                  <a:srgbClr val="183544"/>
                </a:solidFill>
                <a:latin typeface="Arial"/>
              </a:defRPr>
            </a:pPr>
            <a:r>
              <a:t>100</a:t>
            </a:r>
          </a:p>
        </p:txBody>
      </p:sp>
      <p:sp>
        <p:nvSpPr>
          <p:cNvPr id="44" name="Rectangle 43"/>
          <p:cNvSpPr/>
          <p:nvPr/>
        </p:nvSpPr>
        <p:spPr>
          <a:xfrm>
            <a:off x="6492240" y="4690872"/>
            <a:ext cx="2697480" cy="548640"/>
          </a:xfrm>
          <a:prstGeom prst="rect">
            <a:avLst/>
          </a:prstGeom>
          <a:solidFill>
            <a:srgbClr val="E6F0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675120" y="4818888"/>
            <a:ext cx="2331720" cy="365760"/>
          </a:xfrm>
          <a:prstGeom prst="rect">
            <a:avLst/>
          </a:prstGeom>
          <a:noFill/>
        </p:spPr>
        <p:txBody>
          <a:bodyPr wrap="square" lIns="0" rIns="0" tIns="0" bIns="0">
            <a:spAutoFit/>
          </a:bodyPr>
          <a:lstStyle/>
          <a:p>
            <a:pPr>
              <a:spcAft>
                <a:spcPts val="800"/>
              </a:spcAft>
              <a:defRPr sz="2200" b="1">
                <a:solidFill>
                  <a:srgbClr val="183544"/>
                </a:solidFill>
                <a:latin typeface="Arial"/>
              </a:defRPr>
            </a:pPr>
            <a:r>
              <a:t>100</a:t>
            </a:r>
          </a:p>
        </p:txBody>
      </p:sp>
      <p:sp>
        <p:nvSpPr>
          <p:cNvPr id="46" name="Rectangle 45"/>
          <p:cNvSpPr/>
          <p:nvPr/>
        </p:nvSpPr>
        <p:spPr>
          <a:xfrm>
            <a:off x="9189720" y="4690872"/>
            <a:ext cx="2414016" cy="548640"/>
          </a:xfrm>
          <a:prstGeom prst="rect">
            <a:avLst/>
          </a:prstGeom>
          <a:solidFill>
            <a:srgbClr val="E6F0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372600" y="4818888"/>
            <a:ext cx="2048256" cy="365760"/>
          </a:xfrm>
          <a:prstGeom prst="rect">
            <a:avLst/>
          </a:prstGeom>
          <a:noFill/>
        </p:spPr>
        <p:txBody>
          <a:bodyPr wrap="square" lIns="0" rIns="0" tIns="0" bIns="0">
            <a:spAutoFit/>
          </a:bodyPr>
          <a:lstStyle/>
          <a:p>
            <a:pPr>
              <a:spcAft>
                <a:spcPts val="800"/>
              </a:spcAft>
              <a:defRPr sz="2200" b="1">
                <a:solidFill>
                  <a:srgbClr val="183544"/>
                </a:solidFill>
                <a:latin typeface="Arial"/>
              </a:defRPr>
            </a:pPr>
            <a:r>
              <a:t>0</a:t>
            </a:r>
          </a:p>
        </p:txBody>
      </p:sp>
      <p:sp>
        <p:nvSpPr>
          <p:cNvPr id="48" name="Rounded Rectangle 47"/>
          <p:cNvSpPr/>
          <p:nvPr/>
        </p:nvSpPr>
        <p:spPr>
          <a:xfrm>
            <a:off x="594360" y="5504688"/>
            <a:ext cx="11009376" cy="512064"/>
          </a:xfrm>
          <a:prstGeom prst="roundRect">
            <a:avLst>
              <a:gd name="adj" fmla="val 12000"/>
            </a:avLst>
          </a:prstGeom>
          <a:solidFill>
            <a:srgbClr val="087F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04672" y="5614416"/>
            <a:ext cx="10607040" cy="320040"/>
          </a:xfrm>
          <a:prstGeom prst="rect">
            <a:avLst/>
          </a:prstGeom>
          <a:noFill/>
        </p:spPr>
        <p:txBody>
          <a:bodyPr wrap="square" lIns="0" rIns="0" tIns="0" bIns="0">
            <a:spAutoFit/>
          </a:bodyPr>
          <a:lstStyle/>
          <a:p>
            <a:pPr>
              <a:spcAft>
                <a:spcPts val="800"/>
              </a:spcAft>
              <a:defRPr sz="2200" b="1">
                <a:solidFill>
                  <a:srgbClr val="FFFFFF"/>
                </a:solidFill>
                <a:latin typeface="Arial"/>
              </a:defRPr>
            </a:pPr>
            <a:r>
              <a:t>Both totals balance. Karim loses 10 without participating in the sale.</a:t>
            </a:r>
          </a:p>
        </p:txBody>
      </p:sp>
      <p:sp>
        <p:nvSpPr>
          <p:cNvPr id="50" name="TextBox 49"/>
          <p:cNvSpPr txBox="1"/>
          <p:nvPr/>
        </p:nvSpPr>
        <p:spPr>
          <a:xfrm>
            <a:off x="612648" y="6144768"/>
            <a:ext cx="10972800" cy="201168"/>
          </a:xfrm>
          <a:prstGeom prst="rect">
            <a:avLst/>
          </a:prstGeom>
          <a:noFill/>
        </p:spPr>
        <p:txBody>
          <a:bodyPr wrap="square" lIns="0" rIns="0" tIns="0" bIns="0">
            <a:spAutoFit/>
          </a:bodyPr>
          <a:lstStyle/>
          <a:p>
            <a:pPr>
              <a:spcAft>
                <a:spcPts val="800"/>
              </a:spcAft>
              <a:defRPr sz="1000" b="0">
                <a:solidFill>
                  <a:srgbClr val="607781"/>
                </a:solidFill>
                <a:latin typeface="Arial"/>
              </a:defRPr>
            </a:pPr>
            <a:r>
              <a:t>Run DEMO-P4-011  ·  MUTATION_WRONG_SHARE  ·  All figures are decimals equivalent of undivided interests.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8F8"/>
        </a:solidFill>
        <a:effectLst/>
      </p:bgPr>
    </p:bg>
    <p:spTree>
      <p:nvGrpSpPr>
        <p:cNvPr id="1" name=""/>
        <p:cNvGrpSpPr/>
        <p:nvPr/>
      </p:nvGrpSpPr>
      <p:grpSpPr/>
      <p:sp>
        <p:nvSpPr>
          <p:cNvPr id="2" name="TextBox 1"/>
          <p:cNvSpPr txBox="1"/>
          <p:nvPr/>
        </p:nvSpPr>
        <p:spPr>
          <a:xfrm>
            <a:off x="594360" y="292608"/>
            <a:ext cx="10058400" cy="228600"/>
          </a:xfrm>
          <a:prstGeom prst="rect">
            <a:avLst/>
          </a:prstGeom>
          <a:noFill/>
        </p:spPr>
        <p:txBody>
          <a:bodyPr wrap="square" lIns="0" rIns="0" tIns="0" bIns="0">
            <a:spAutoFit/>
          </a:bodyPr>
          <a:lstStyle/>
          <a:p>
            <a:pPr>
              <a:spcAft>
                <a:spcPts val="800"/>
              </a:spcAft>
              <a:defRPr sz="1000" b="1">
                <a:solidFill>
                  <a:srgbClr val="087F73"/>
                </a:solidFill>
                <a:latin typeface="Arial"/>
              </a:defRPr>
            </a:pPr>
            <a:r>
              <a:t>05 / KEY FEATURES</a:t>
            </a:r>
          </a:p>
        </p:txBody>
      </p:sp>
      <p:sp>
        <p:nvSpPr>
          <p:cNvPr id="3" name="TextBox 2"/>
          <p:cNvSpPr txBox="1"/>
          <p:nvPr/>
        </p:nvSpPr>
        <p:spPr>
          <a:xfrm>
            <a:off x="594360" y="813816"/>
            <a:ext cx="10972800" cy="1005840"/>
          </a:xfrm>
          <a:prstGeom prst="rect">
            <a:avLst/>
          </a:prstGeom>
          <a:noFill/>
        </p:spPr>
        <p:txBody>
          <a:bodyPr wrap="square" lIns="0" rIns="0" tIns="0" bIns="0">
            <a:spAutoFit/>
          </a:bodyPr>
          <a:lstStyle/>
          <a:p>
            <a:pPr>
              <a:spcAft>
                <a:spcPts val="800"/>
              </a:spcAft>
              <a:defRPr sz="3300" b="1">
                <a:solidFill>
                  <a:srgbClr val="112F40"/>
                </a:solidFill>
                <a:latin typeface="Arial"/>
              </a:defRPr>
            </a:pPr>
            <a:r>
              <a:t>Built around evidence an officer can inspect.</a:t>
            </a:r>
          </a:p>
        </p:txBody>
      </p:sp>
      <p:sp>
        <p:nvSpPr>
          <p:cNvPr id="4" name="Rectangle 3"/>
          <p:cNvSpPr/>
          <p:nvPr/>
        </p:nvSpPr>
        <p:spPr>
          <a:xfrm>
            <a:off x="594360" y="6437376"/>
            <a:ext cx="11000232" cy="10972"/>
          </a:xfrm>
          <a:prstGeom prst="rect">
            <a:avLst/>
          </a:prstGeom>
          <a:solidFill>
            <a:srgbClr val="DCE7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6537960"/>
            <a:ext cx="8229600" cy="182880"/>
          </a:xfrm>
          <a:prstGeom prst="rect">
            <a:avLst/>
          </a:prstGeom>
          <a:noFill/>
        </p:spPr>
        <p:txBody>
          <a:bodyPr wrap="square" lIns="0" rIns="0" tIns="0" bIns="0">
            <a:spAutoFit/>
          </a:bodyPr>
          <a:lstStyle/>
          <a:p>
            <a:pPr>
              <a:spcAft>
                <a:spcPts val="800"/>
              </a:spcAft>
              <a:defRPr sz="800" b="0">
                <a:solidFill>
                  <a:srgbClr val="607781"/>
                </a:solidFill>
                <a:latin typeface="Arial"/>
              </a:defRPr>
            </a:pPr>
            <a:r>
              <a:t>BHUMI  /  LANDTECH 2026  /  P4 — SMART E-MUTATION &amp; REGISTRY</a:t>
            </a:r>
          </a:p>
        </p:txBody>
      </p:sp>
      <p:sp>
        <p:nvSpPr>
          <p:cNvPr id="6" name="TextBox 5"/>
          <p:cNvSpPr txBox="1"/>
          <p:nvPr/>
        </p:nvSpPr>
        <p:spPr>
          <a:xfrm>
            <a:off x="10972800" y="6510528"/>
            <a:ext cx="594360" cy="228600"/>
          </a:xfrm>
          <a:prstGeom prst="rect">
            <a:avLst/>
          </a:prstGeom>
          <a:noFill/>
        </p:spPr>
        <p:txBody>
          <a:bodyPr wrap="square" lIns="0" rIns="0" tIns="0" bIns="0">
            <a:spAutoFit/>
          </a:bodyPr>
          <a:lstStyle/>
          <a:p>
            <a:pPr algn="r">
              <a:spcAft>
                <a:spcPts val="800"/>
              </a:spcAft>
              <a:defRPr sz="900" b="0">
                <a:solidFill>
                  <a:srgbClr val="607781"/>
                </a:solidFill>
                <a:latin typeface="Arial"/>
              </a:defRPr>
            </a:pPr>
            <a:r>
              <a:t>06 / 09</a:t>
            </a:r>
          </a:p>
        </p:txBody>
      </p:sp>
      <p:sp>
        <p:nvSpPr>
          <p:cNvPr id="7" name="Rounded Rectangle 6"/>
          <p:cNvSpPr/>
          <p:nvPr/>
        </p:nvSpPr>
        <p:spPr>
          <a:xfrm>
            <a:off x="594360" y="1883664"/>
            <a:ext cx="5385816" cy="1435608"/>
          </a:xfrm>
          <a:prstGeom prst="roundRect">
            <a:avLst>
              <a:gd name="adj" fmla="val 12000"/>
            </a:avLst>
          </a:prstGeom>
          <a:solidFill>
            <a:srgbClr val="FFFFFF"/>
          </a:solidFill>
          <a:ln>
            <a:solidFill>
              <a:srgbClr val="DCE7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94360" y="1883664"/>
            <a:ext cx="59436" cy="1435608"/>
          </a:xfrm>
          <a:prstGeom prst="rect">
            <a:avLst/>
          </a:prstGeom>
          <a:solidFill>
            <a:srgbClr val="087F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0392" y="2093976"/>
            <a:ext cx="4800600" cy="411480"/>
          </a:xfrm>
          <a:prstGeom prst="rect">
            <a:avLst/>
          </a:prstGeom>
          <a:noFill/>
        </p:spPr>
        <p:txBody>
          <a:bodyPr wrap="square" lIns="0" rIns="0" tIns="0" bIns="0">
            <a:spAutoFit/>
          </a:bodyPr>
          <a:lstStyle/>
          <a:p>
            <a:pPr>
              <a:spcAft>
                <a:spcPts val="800"/>
              </a:spcAft>
              <a:defRPr sz="2300" b="1">
                <a:solidFill>
                  <a:srgbClr val="112F40"/>
                </a:solidFill>
                <a:latin typeface="Arial"/>
              </a:defRPr>
            </a:pPr>
            <a:r>
              <a:t>Exact share accounting</a:t>
            </a:r>
          </a:p>
        </p:txBody>
      </p:sp>
      <p:sp>
        <p:nvSpPr>
          <p:cNvPr id="10" name="TextBox 9"/>
          <p:cNvSpPr txBox="1"/>
          <p:nvPr/>
        </p:nvSpPr>
        <p:spPr>
          <a:xfrm>
            <a:off x="850392" y="2660904"/>
            <a:ext cx="4800600" cy="530352"/>
          </a:xfrm>
          <a:prstGeom prst="rect">
            <a:avLst/>
          </a:prstGeom>
          <a:noFill/>
        </p:spPr>
        <p:txBody>
          <a:bodyPr wrap="square" lIns="0" rIns="0" tIns="0" bIns="0">
            <a:spAutoFit/>
          </a:bodyPr>
          <a:lstStyle/>
          <a:p>
            <a:pPr>
              <a:spcAft>
                <a:spcPts val="800"/>
              </a:spcAft>
              <a:defRPr sz="1800" b="0">
                <a:solidFill>
                  <a:srgbClr val="607781"/>
                </a:solidFill>
                <a:latin typeface="Arial"/>
              </a:defRPr>
            </a:pPr>
            <a:r>
              <a:t>BigInt fractions keep thirds, sixths and transfers exact.</a:t>
            </a:r>
          </a:p>
        </p:txBody>
      </p:sp>
      <p:sp>
        <p:nvSpPr>
          <p:cNvPr id="11" name="Rounded Rectangle 10"/>
          <p:cNvSpPr/>
          <p:nvPr/>
        </p:nvSpPr>
        <p:spPr>
          <a:xfrm>
            <a:off x="6217920" y="1883664"/>
            <a:ext cx="5385816" cy="1435608"/>
          </a:xfrm>
          <a:prstGeom prst="roundRect">
            <a:avLst>
              <a:gd name="adj" fmla="val 12000"/>
            </a:avLst>
          </a:prstGeom>
          <a:solidFill>
            <a:srgbClr val="FFFFFF"/>
          </a:solidFill>
          <a:ln>
            <a:solidFill>
              <a:srgbClr val="DCE7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7920" y="1883664"/>
            <a:ext cx="59436" cy="1435608"/>
          </a:xfrm>
          <a:prstGeom prst="rect">
            <a:avLst/>
          </a:prstGeom>
          <a:solidFill>
            <a:srgbClr val="087F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73952" y="2093976"/>
            <a:ext cx="4800600" cy="411480"/>
          </a:xfrm>
          <a:prstGeom prst="rect">
            <a:avLst/>
          </a:prstGeom>
          <a:noFill/>
        </p:spPr>
        <p:txBody>
          <a:bodyPr wrap="square" lIns="0" rIns="0" tIns="0" bIns="0">
            <a:spAutoFit/>
          </a:bodyPr>
          <a:lstStyle/>
          <a:p>
            <a:pPr>
              <a:spcAft>
                <a:spcPts val="800"/>
              </a:spcAft>
              <a:defRPr sz="2300" b="1">
                <a:solidFill>
                  <a:srgbClr val="112F40"/>
                </a:solidFill>
                <a:latin typeface="Arial"/>
              </a:defRPr>
            </a:pPr>
            <a:r>
              <a:t>Nine focused rules</a:t>
            </a:r>
          </a:p>
        </p:txBody>
      </p:sp>
      <p:sp>
        <p:nvSpPr>
          <p:cNvPr id="14" name="TextBox 13"/>
          <p:cNvSpPr txBox="1"/>
          <p:nvPr/>
        </p:nvSpPr>
        <p:spPr>
          <a:xfrm>
            <a:off x="6473952" y="2660904"/>
            <a:ext cx="4800600" cy="530352"/>
          </a:xfrm>
          <a:prstGeom prst="rect">
            <a:avLst/>
          </a:prstGeom>
          <a:noFill/>
        </p:spPr>
        <p:txBody>
          <a:bodyPr wrap="square" lIns="0" rIns="0" tIns="0" bIns="0">
            <a:spAutoFit/>
          </a:bodyPr>
          <a:lstStyle/>
          <a:p>
            <a:pPr>
              <a:spcAft>
                <a:spcPts val="800"/>
              </a:spcAft>
              <a:defRPr sz="1800" b="0">
                <a:solidFill>
                  <a:srgbClr val="607781"/>
                </a:solidFill>
                <a:latin typeface="Arial"/>
              </a:defRPr>
            </a:pPr>
            <a:r>
              <a:t>Over-transfer, missing mutation, wrong shares and broken chains.</a:t>
            </a:r>
          </a:p>
        </p:txBody>
      </p:sp>
      <p:sp>
        <p:nvSpPr>
          <p:cNvPr id="15" name="Rounded Rectangle 14"/>
          <p:cNvSpPr/>
          <p:nvPr/>
        </p:nvSpPr>
        <p:spPr>
          <a:xfrm>
            <a:off x="594360" y="3575304"/>
            <a:ext cx="5385816" cy="1435608"/>
          </a:xfrm>
          <a:prstGeom prst="roundRect">
            <a:avLst>
              <a:gd name="adj" fmla="val 12000"/>
            </a:avLst>
          </a:prstGeom>
          <a:solidFill>
            <a:srgbClr val="FFFFFF"/>
          </a:solidFill>
          <a:ln>
            <a:solidFill>
              <a:srgbClr val="DCE7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94360" y="3575304"/>
            <a:ext cx="59436" cy="1435608"/>
          </a:xfrm>
          <a:prstGeom prst="rect">
            <a:avLst/>
          </a:prstGeom>
          <a:solidFill>
            <a:srgbClr val="087F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0392" y="3785616"/>
            <a:ext cx="4800600" cy="411480"/>
          </a:xfrm>
          <a:prstGeom prst="rect">
            <a:avLst/>
          </a:prstGeom>
          <a:noFill/>
        </p:spPr>
        <p:txBody>
          <a:bodyPr wrap="square" lIns="0" rIns="0" tIns="0" bIns="0">
            <a:spAutoFit/>
          </a:bodyPr>
          <a:lstStyle/>
          <a:p>
            <a:pPr>
              <a:spcAft>
                <a:spcPts val="800"/>
              </a:spcAft>
              <a:defRPr sz="2300" b="1">
                <a:solidFill>
                  <a:srgbClr val="112F40"/>
                </a:solidFill>
                <a:latin typeface="Arial"/>
              </a:defRPr>
            </a:pPr>
            <a:r>
              <a:t>Source-linked evidence</a:t>
            </a:r>
          </a:p>
        </p:txBody>
      </p:sp>
      <p:sp>
        <p:nvSpPr>
          <p:cNvPr id="18" name="TextBox 17"/>
          <p:cNvSpPr txBox="1"/>
          <p:nvPr/>
        </p:nvSpPr>
        <p:spPr>
          <a:xfrm>
            <a:off x="850392" y="4352544"/>
            <a:ext cx="4800600" cy="530352"/>
          </a:xfrm>
          <a:prstGeom prst="rect">
            <a:avLst/>
          </a:prstGeom>
          <a:noFill/>
        </p:spPr>
        <p:txBody>
          <a:bodyPr wrap="square" lIns="0" rIns="0" tIns="0" bIns="0">
            <a:spAutoFit/>
          </a:bodyPr>
          <a:lstStyle/>
          <a:p>
            <a:pPr>
              <a:spcAft>
                <a:spcPts val="800"/>
              </a:spcAft>
              <a:defRPr sz="1800" b="0">
                <a:solidFill>
                  <a:srgbClr val="607781"/>
                </a:solidFill>
                <a:latin typeface="Arial"/>
              </a:defRPr>
            </a:pPr>
            <a:r>
              <a:t>Expected versus actual shares with event and document references.</a:t>
            </a:r>
          </a:p>
        </p:txBody>
      </p:sp>
      <p:sp>
        <p:nvSpPr>
          <p:cNvPr id="19" name="Rounded Rectangle 18"/>
          <p:cNvSpPr/>
          <p:nvPr/>
        </p:nvSpPr>
        <p:spPr>
          <a:xfrm>
            <a:off x="6217920" y="3575304"/>
            <a:ext cx="5385816" cy="1435608"/>
          </a:xfrm>
          <a:prstGeom prst="roundRect">
            <a:avLst>
              <a:gd name="adj" fmla="val 12000"/>
            </a:avLst>
          </a:prstGeom>
          <a:solidFill>
            <a:srgbClr val="FFFFFF"/>
          </a:solidFill>
          <a:ln>
            <a:solidFill>
              <a:srgbClr val="DCE7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17920" y="3575304"/>
            <a:ext cx="59436" cy="1435608"/>
          </a:xfrm>
          <a:prstGeom prst="rect">
            <a:avLst/>
          </a:prstGeom>
          <a:solidFill>
            <a:srgbClr val="087F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73952" y="3785616"/>
            <a:ext cx="4800600" cy="411480"/>
          </a:xfrm>
          <a:prstGeom prst="rect">
            <a:avLst/>
          </a:prstGeom>
          <a:noFill/>
        </p:spPr>
        <p:txBody>
          <a:bodyPr wrap="square" lIns="0" rIns="0" tIns="0" bIns="0">
            <a:spAutoFit/>
          </a:bodyPr>
          <a:lstStyle/>
          <a:p>
            <a:pPr>
              <a:spcAft>
                <a:spcPts val="800"/>
              </a:spcAft>
              <a:defRPr sz="2300" b="1">
                <a:solidFill>
                  <a:srgbClr val="112F40"/>
                </a:solidFill>
                <a:latin typeface="Arial"/>
              </a:defRPr>
            </a:pPr>
            <a:r>
              <a:t>Review &amp; audit trail</a:t>
            </a:r>
          </a:p>
        </p:txBody>
      </p:sp>
      <p:sp>
        <p:nvSpPr>
          <p:cNvPr id="22" name="TextBox 21"/>
          <p:cNvSpPr txBox="1"/>
          <p:nvPr/>
        </p:nvSpPr>
        <p:spPr>
          <a:xfrm>
            <a:off x="6473952" y="4352544"/>
            <a:ext cx="4800600" cy="530352"/>
          </a:xfrm>
          <a:prstGeom prst="rect">
            <a:avLst/>
          </a:prstGeom>
          <a:noFill/>
        </p:spPr>
        <p:txBody>
          <a:bodyPr wrap="square" lIns="0" rIns="0" tIns="0" bIns="0">
            <a:spAutoFit/>
          </a:bodyPr>
          <a:lstStyle/>
          <a:p>
            <a:pPr>
              <a:spcAft>
                <a:spcPts val="800"/>
              </a:spcAft>
              <a:defRPr sz="1800" b="0">
                <a:solidFill>
                  <a:srgbClr val="607781"/>
                </a:solidFill>
                <a:latin typeface="Arial"/>
              </a:defRPr>
            </a:pPr>
            <a:r>
              <a:t>Request evidence, resolve or escalate with a recorded reason.</a:t>
            </a:r>
          </a:p>
        </p:txBody>
      </p:sp>
      <p:sp>
        <p:nvSpPr>
          <p:cNvPr id="23" name="TextBox 22"/>
          <p:cNvSpPr txBox="1"/>
          <p:nvPr/>
        </p:nvSpPr>
        <p:spPr>
          <a:xfrm>
            <a:off x="658368" y="5715000"/>
            <a:ext cx="10881360" cy="411480"/>
          </a:xfrm>
          <a:prstGeom prst="rect">
            <a:avLst/>
          </a:prstGeom>
          <a:noFill/>
        </p:spPr>
        <p:txBody>
          <a:bodyPr wrap="square" lIns="0" rIns="0" tIns="0" bIns="0">
            <a:spAutoFit/>
          </a:bodyPr>
          <a:lstStyle/>
          <a:p>
            <a:pPr>
              <a:spcAft>
                <a:spcPts val="800"/>
              </a:spcAft>
              <a:defRPr sz="2000" b="1">
                <a:solidFill>
                  <a:srgbClr val="087F73"/>
                </a:solidFill>
                <a:latin typeface="Arial"/>
              </a:defRPr>
            </a:pPr>
            <a:r>
              <a:t>Corrected inputs create a new result. Earlier findings and review actions remain visible.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8F8"/>
        </a:solidFill>
        <a:effectLst/>
      </p:bgPr>
    </p:bg>
    <p:spTree>
      <p:nvGrpSpPr>
        <p:cNvPr id="1" name=""/>
        <p:cNvGrpSpPr/>
        <p:nvPr/>
      </p:nvGrpSpPr>
      <p:grpSpPr/>
      <p:sp>
        <p:nvSpPr>
          <p:cNvPr id="2" name="TextBox 1"/>
          <p:cNvSpPr txBox="1"/>
          <p:nvPr/>
        </p:nvSpPr>
        <p:spPr>
          <a:xfrm>
            <a:off x="594360" y="292608"/>
            <a:ext cx="10058400" cy="228600"/>
          </a:xfrm>
          <a:prstGeom prst="rect">
            <a:avLst/>
          </a:prstGeom>
          <a:noFill/>
        </p:spPr>
        <p:txBody>
          <a:bodyPr wrap="square" lIns="0" rIns="0" tIns="0" bIns="0">
            <a:spAutoFit/>
          </a:bodyPr>
          <a:lstStyle/>
          <a:p>
            <a:pPr>
              <a:spcAft>
                <a:spcPts val="800"/>
              </a:spcAft>
              <a:defRPr sz="1000" b="1">
                <a:solidFill>
                  <a:srgbClr val="087F73"/>
                </a:solidFill>
                <a:latin typeface="Arial"/>
              </a:defRPr>
            </a:pPr>
            <a:r>
              <a:t>06 / TECHNOLOGY &amp; VALIDATION</a:t>
            </a:r>
          </a:p>
        </p:txBody>
      </p:sp>
      <p:sp>
        <p:nvSpPr>
          <p:cNvPr id="3" name="TextBox 2"/>
          <p:cNvSpPr txBox="1"/>
          <p:nvPr/>
        </p:nvSpPr>
        <p:spPr>
          <a:xfrm>
            <a:off x="594360" y="813816"/>
            <a:ext cx="10972800" cy="1005840"/>
          </a:xfrm>
          <a:prstGeom prst="rect">
            <a:avLst/>
          </a:prstGeom>
          <a:noFill/>
        </p:spPr>
        <p:txBody>
          <a:bodyPr wrap="square" lIns="0" rIns="0" tIns="0" bIns="0">
            <a:spAutoFit/>
          </a:bodyPr>
          <a:lstStyle/>
          <a:p>
            <a:pPr>
              <a:spcAft>
                <a:spcPts val="800"/>
              </a:spcAft>
              <a:defRPr sz="3300" b="1">
                <a:solidFill>
                  <a:srgbClr val="112F40"/>
                </a:solidFill>
                <a:latin typeface="Arial"/>
              </a:defRPr>
            </a:pPr>
            <a:r>
              <a:t>A transparent engine. A tested prototype.</a:t>
            </a:r>
          </a:p>
        </p:txBody>
      </p:sp>
      <p:sp>
        <p:nvSpPr>
          <p:cNvPr id="4" name="Rectangle 3"/>
          <p:cNvSpPr/>
          <p:nvPr/>
        </p:nvSpPr>
        <p:spPr>
          <a:xfrm>
            <a:off x="594360" y="6437376"/>
            <a:ext cx="11000232" cy="10972"/>
          </a:xfrm>
          <a:prstGeom prst="rect">
            <a:avLst/>
          </a:prstGeom>
          <a:solidFill>
            <a:srgbClr val="DCE7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6537960"/>
            <a:ext cx="8229600" cy="182880"/>
          </a:xfrm>
          <a:prstGeom prst="rect">
            <a:avLst/>
          </a:prstGeom>
          <a:noFill/>
        </p:spPr>
        <p:txBody>
          <a:bodyPr wrap="square" lIns="0" rIns="0" tIns="0" bIns="0">
            <a:spAutoFit/>
          </a:bodyPr>
          <a:lstStyle/>
          <a:p>
            <a:pPr>
              <a:spcAft>
                <a:spcPts val="800"/>
              </a:spcAft>
              <a:defRPr sz="800" b="0">
                <a:solidFill>
                  <a:srgbClr val="607781"/>
                </a:solidFill>
                <a:latin typeface="Arial"/>
              </a:defRPr>
            </a:pPr>
            <a:r>
              <a:t>BHUMI  /  LANDTECH 2026  /  P4 — SMART E-MUTATION &amp; REGISTRY</a:t>
            </a:r>
          </a:p>
        </p:txBody>
      </p:sp>
      <p:sp>
        <p:nvSpPr>
          <p:cNvPr id="6" name="TextBox 5"/>
          <p:cNvSpPr txBox="1"/>
          <p:nvPr/>
        </p:nvSpPr>
        <p:spPr>
          <a:xfrm>
            <a:off x="10972800" y="6510528"/>
            <a:ext cx="594360" cy="228600"/>
          </a:xfrm>
          <a:prstGeom prst="rect">
            <a:avLst/>
          </a:prstGeom>
          <a:noFill/>
        </p:spPr>
        <p:txBody>
          <a:bodyPr wrap="square" lIns="0" rIns="0" tIns="0" bIns="0">
            <a:spAutoFit/>
          </a:bodyPr>
          <a:lstStyle/>
          <a:p>
            <a:pPr algn="r">
              <a:spcAft>
                <a:spcPts val="800"/>
              </a:spcAft>
              <a:defRPr sz="900" b="0">
                <a:solidFill>
                  <a:srgbClr val="607781"/>
                </a:solidFill>
                <a:latin typeface="Arial"/>
              </a:defRPr>
            </a:pPr>
            <a:r>
              <a:t>07 / 09</a:t>
            </a:r>
          </a:p>
        </p:txBody>
      </p:sp>
      <p:sp>
        <p:nvSpPr>
          <p:cNvPr id="7" name="Rounded Rectangle 6"/>
          <p:cNvSpPr/>
          <p:nvPr/>
        </p:nvSpPr>
        <p:spPr>
          <a:xfrm>
            <a:off x="594360" y="1874519"/>
            <a:ext cx="6629400" cy="832104"/>
          </a:xfrm>
          <a:prstGeom prst="roundRect">
            <a:avLst>
              <a:gd name="adj" fmla="val 12000"/>
            </a:avLst>
          </a:prstGeom>
          <a:solidFill>
            <a:srgbClr val="FFFFFF"/>
          </a:solidFill>
          <a:ln>
            <a:solidFill>
              <a:srgbClr val="DCE7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4672" y="2020824"/>
            <a:ext cx="6217920" cy="192024"/>
          </a:xfrm>
          <a:prstGeom prst="rect">
            <a:avLst/>
          </a:prstGeom>
          <a:noFill/>
        </p:spPr>
        <p:txBody>
          <a:bodyPr wrap="square" lIns="0" rIns="0" tIns="0" bIns="0">
            <a:spAutoFit/>
          </a:bodyPr>
          <a:lstStyle/>
          <a:p>
            <a:pPr>
              <a:spcAft>
                <a:spcPts val="800"/>
              </a:spcAft>
              <a:defRPr sz="1000" b="1">
                <a:solidFill>
                  <a:srgbClr val="087F73"/>
                </a:solidFill>
                <a:latin typeface="Arial"/>
              </a:defRPr>
            </a:pPr>
            <a:r>
              <a:t>INTERFACE</a:t>
            </a:r>
          </a:p>
        </p:txBody>
      </p:sp>
      <p:sp>
        <p:nvSpPr>
          <p:cNvPr id="9" name="TextBox 8"/>
          <p:cNvSpPr txBox="1"/>
          <p:nvPr/>
        </p:nvSpPr>
        <p:spPr>
          <a:xfrm>
            <a:off x="804672" y="2276856"/>
            <a:ext cx="6217920" cy="329184"/>
          </a:xfrm>
          <a:prstGeom prst="rect">
            <a:avLst/>
          </a:prstGeom>
          <a:noFill/>
        </p:spPr>
        <p:txBody>
          <a:bodyPr wrap="square" lIns="0" rIns="0" tIns="0" bIns="0">
            <a:spAutoFit/>
          </a:bodyPr>
          <a:lstStyle/>
          <a:p>
            <a:pPr>
              <a:spcAft>
                <a:spcPts val="800"/>
              </a:spcAft>
              <a:defRPr sz="2000" b="1">
                <a:solidFill>
                  <a:srgbClr val="112F40"/>
                </a:solidFill>
                <a:latin typeface="Arial"/>
              </a:defRPr>
            </a:pPr>
            <a:r>
              <a:t>Next.js · React · Tailwind</a:t>
            </a:r>
          </a:p>
        </p:txBody>
      </p:sp>
      <p:sp>
        <p:nvSpPr>
          <p:cNvPr id="10" name="Rounded Rectangle 9"/>
          <p:cNvSpPr/>
          <p:nvPr/>
        </p:nvSpPr>
        <p:spPr>
          <a:xfrm>
            <a:off x="594360" y="2880360"/>
            <a:ext cx="6629400" cy="832104"/>
          </a:xfrm>
          <a:prstGeom prst="roundRect">
            <a:avLst>
              <a:gd name="adj" fmla="val 12000"/>
            </a:avLst>
          </a:prstGeom>
          <a:solidFill>
            <a:srgbClr val="FFFFFF"/>
          </a:solidFill>
          <a:ln>
            <a:solidFill>
              <a:srgbClr val="DCE7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2" y="3026664"/>
            <a:ext cx="6217920" cy="192024"/>
          </a:xfrm>
          <a:prstGeom prst="rect">
            <a:avLst/>
          </a:prstGeom>
          <a:noFill/>
        </p:spPr>
        <p:txBody>
          <a:bodyPr wrap="square" lIns="0" rIns="0" tIns="0" bIns="0">
            <a:spAutoFit/>
          </a:bodyPr>
          <a:lstStyle/>
          <a:p>
            <a:pPr>
              <a:spcAft>
                <a:spcPts val="800"/>
              </a:spcAft>
              <a:defRPr sz="1000" b="1">
                <a:solidFill>
                  <a:srgbClr val="087F73"/>
                </a:solidFill>
                <a:latin typeface="Arial"/>
              </a:defRPr>
            </a:pPr>
            <a:r>
              <a:t>DOMAIN</a:t>
            </a:r>
          </a:p>
        </p:txBody>
      </p:sp>
      <p:sp>
        <p:nvSpPr>
          <p:cNvPr id="12" name="TextBox 11"/>
          <p:cNvSpPr txBox="1"/>
          <p:nvPr/>
        </p:nvSpPr>
        <p:spPr>
          <a:xfrm>
            <a:off x="804672" y="3282696"/>
            <a:ext cx="6217920" cy="329184"/>
          </a:xfrm>
          <a:prstGeom prst="rect">
            <a:avLst/>
          </a:prstGeom>
          <a:noFill/>
        </p:spPr>
        <p:txBody>
          <a:bodyPr wrap="square" lIns="0" rIns="0" tIns="0" bIns="0">
            <a:spAutoFit/>
          </a:bodyPr>
          <a:lstStyle/>
          <a:p>
            <a:pPr>
              <a:spcAft>
                <a:spcPts val="800"/>
              </a:spcAft>
              <a:defRPr sz="2000" b="1">
                <a:solidFill>
                  <a:srgbClr val="112F40"/>
                </a:solidFill>
                <a:latin typeface="Arial"/>
              </a:defRPr>
            </a:pPr>
            <a:r>
              <a:t>TypeScript · Zod · exact BigInt fractions</a:t>
            </a:r>
          </a:p>
        </p:txBody>
      </p:sp>
      <p:sp>
        <p:nvSpPr>
          <p:cNvPr id="13" name="Rounded Rectangle 12"/>
          <p:cNvSpPr/>
          <p:nvPr/>
        </p:nvSpPr>
        <p:spPr>
          <a:xfrm>
            <a:off x="594360" y="3886200"/>
            <a:ext cx="6629400" cy="832104"/>
          </a:xfrm>
          <a:prstGeom prst="roundRect">
            <a:avLst>
              <a:gd name="adj" fmla="val 12000"/>
            </a:avLst>
          </a:prstGeom>
          <a:solidFill>
            <a:srgbClr val="FFFFFF"/>
          </a:solidFill>
          <a:ln>
            <a:solidFill>
              <a:srgbClr val="DCE7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672" y="4032504"/>
            <a:ext cx="6217920" cy="192024"/>
          </a:xfrm>
          <a:prstGeom prst="rect">
            <a:avLst/>
          </a:prstGeom>
          <a:noFill/>
        </p:spPr>
        <p:txBody>
          <a:bodyPr wrap="square" lIns="0" rIns="0" tIns="0" bIns="0">
            <a:spAutoFit/>
          </a:bodyPr>
          <a:lstStyle/>
          <a:p>
            <a:pPr>
              <a:spcAft>
                <a:spcPts val="800"/>
              </a:spcAft>
              <a:defRPr sz="1000" b="1">
                <a:solidFill>
                  <a:srgbClr val="087F73"/>
                </a:solidFill>
                <a:latin typeface="Arial"/>
              </a:defRPr>
            </a:pPr>
            <a:r>
              <a:t>STORAGE</a:t>
            </a:r>
          </a:p>
        </p:txBody>
      </p:sp>
      <p:sp>
        <p:nvSpPr>
          <p:cNvPr id="15" name="TextBox 14"/>
          <p:cNvSpPr txBox="1"/>
          <p:nvPr/>
        </p:nvSpPr>
        <p:spPr>
          <a:xfrm>
            <a:off x="804672" y="4288536"/>
            <a:ext cx="6217920" cy="329184"/>
          </a:xfrm>
          <a:prstGeom prst="rect">
            <a:avLst/>
          </a:prstGeom>
          <a:noFill/>
        </p:spPr>
        <p:txBody>
          <a:bodyPr wrap="square" lIns="0" rIns="0" tIns="0" bIns="0">
            <a:spAutoFit/>
          </a:bodyPr>
          <a:lstStyle/>
          <a:p>
            <a:pPr>
              <a:spcAft>
                <a:spcPts val="800"/>
              </a:spcAft>
              <a:defRPr sz="2000" b="1">
                <a:solidFill>
                  <a:srgbClr val="112F40"/>
                </a:solidFill>
                <a:latin typeface="Arial"/>
              </a:defRPr>
            </a:pPr>
            <a:r>
              <a:t>PostgreSQL via PGlite · Drizzle ORM</a:t>
            </a:r>
          </a:p>
        </p:txBody>
      </p:sp>
      <p:sp>
        <p:nvSpPr>
          <p:cNvPr id="16" name="Rounded Rectangle 15"/>
          <p:cNvSpPr/>
          <p:nvPr/>
        </p:nvSpPr>
        <p:spPr>
          <a:xfrm>
            <a:off x="7589520" y="1874519"/>
            <a:ext cx="4014215" cy="3383280"/>
          </a:xfrm>
          <a:prstGeom prst="roundRect">
            <a:avLst>
              <a:gd name="adj" fmla="val 12000"/>
            </a:avLst>
          </a:prstGeom>
          <a:solidFill>
            <a:srgbClr val="112F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82127" y="2167128"/>
            <a:ext cx="1005840" cy="621792"/>
          </a:xfrm>
          <a:prstGeom prst="rect">
            <a:avLst/>
          </a:prstGeom>
          <a:noFill/>
        </p:spPr>
        <p:txBody>
          <a:bodyPr wrap="square" lIns="0" rIns="0" tIns="0" bIns="0">
            <a:spAutoFit/>
          </a:bodyPr>
          <a:lstStyle/>
          <a:p>
            <a:pPr>
              <a:spcAft>
                <a:spcPts val="800"/>
              </a:spcAft>
              <a:defRPr sz="3600" b="1">
                <a:solidFill>
                  <a:srgbClr val="8DD5C2"/>
                </a:solidFill>
                <a:latin typeface="Arial"/>
              </a:defRPr>
            </a:pPr>
            <a:r>
              <a:t>27</a:t>
            </a:r>
          </a:p>
        </p:txBody>
      </p:sp>
      <p:sp>
        <p:nvSpPr>
          <p:cNvPr id="18" name="TextBox 17"/>
          <p:cNvSpPr txBox="1"/>
          <p:nvPr/>
        </p:nvSpPr>
        <p:spPr>
          <a:xfrm>
            <a:off x="9006840" y="2340864"/>
            <a:ext cx="2194560" cy="502920"/>
          </a:xfrm>
          <a:prstGeom prst="rect">
            <a:avLst/>
          </a:prstGeom>
          <a:noFill/>
        </p:spPr>
        <p:txBody>
          <a:bodyPr wrap="square" lIns="0" rIns="0" tIns="0" bIns="0">
            <a:spAutoFit/>
          </a:bodyPr>
          <a:lstStyle/>
          <a:p>
            <a:pPr>
              <a:spcAft>
                <a:spcPts val="800"/>
              </a:spcAft>
              <a:defRPr sz="1700" b="0">
                <a:solidFill>
                  <a:srgbClr val="FFFFFF"/>
                </a:solidFill>
                <a:latin typeface="Arial"/>
              </a:defRPr>
            </a:pPr>
            <a:r>
              <a:t>unit tests passed</a:t>
            </a:r>
          </a:p>
        </p:txBody>
      </p:sp>
      <p:sp>
        <p:nvSpPr>
          <p:cNvPr id="19" name="TextBox 18"/>
          <p:cNvSpPr txBox="1"/>
          <p:nvPr/>
        </p:nvSpPr>
        <p:spPr>
          <a:xfrm>
            <a:off x="7882127" y="3118104"/>
            <a:ext cx="1005840" cy="621792"/>
          </a:xfrm>
          <a:prstGeom prst="rect">
            <a:avLst/>
          </a:prstGeom>
          <a:noFill/>
        </p:spPr>
        <p:txBody>
          <a:bodyPr wrap="square" lIns="0" rIns="0" tIns="0" bIns="0">
            <a:spAutoFit/>
          </a:bodyPr>
          <a:lstStyle/>
          <a:p>
            <a:pPr>
              <a:spcAft>
                <a:spcPts val="800"/>
              </a:spcAft>
              <a:defRPr sz="3600" b="1">
                <a:solidFill>
                  <a:srgbClr val="8DD5C2"/>
                </a:solidFill>
                <a:latin typeface="Arial"/>
              </a:defRPr>
            </a:pPr>
            <a:r>
              <a:t>3</a:t>
            </a:r>
          </a:p>
        </p:txBody>
      </p:sp>
      <p:sp>
        <p:nvSpPr>
          <p:cNvPr id="20" name="TextBox 19"/>
          <p:cNvSpPr txBox="1"/>
          <p:nvPr/>
        </p:nvSpPr>
        <p:spPr>
          <a:xfrm>
            <a:off x="9006840" y="3291840"/>
            <a:ext cx="2194560" cy="502920"/>
          </a:xfrm>
          <a:prstGeom prst="rect">
            <a:avLst/>
          </a:prstGeom>
          <a:noFill/>
        </p:spPr>
        <p:txBody>
          <a:bodyPr wrap="square" lIns="0" rIns="0" tIns="0" bIns="0">
            <a:spAutoFit/>
          </a:bodyPr>
          <a:lstStyle/>
          <a:p>
            <a:pPr>
              <a:spcAft>
                <a:spcPts val="800"/>
              </a:spcAft>
              <a:defRPr sz="1700" b="0">
                <a:solidFill>
                  <a:srgbClr val="FFFFFF"/>
                </a:solidFill>
                <a:latin typeface="Arial"/>
              </a:defRPr>
            </a:pPr>
            <a:r>
              <a:t>browser tests passed</a:t>
            </a:r>
          </a:p>
        </p:txBody>
      </p:sp>
      <p:sp>
        <p:nvSpPr>
          <p:cNvPr id="21" name="TextBox 20"/>
          <p:cNvSpPr txBox="1"/>
          <p:nvPr/>
        </p:nvSpPr>
        <p:spPr>
          <a:xfrm>
            <a:off x="7882127" y="4069080"/>
            <a:ext cx="1005840" cy="621792"/>
          </a:xfrm>
          <a:prstGeom prst="rect">
            <a:avLst/>
          </a:prstGeom>
          <a:noFill/>
        </p:spPr>
        <p:txBody>
          <a:bodyPr wrap="square" lIns="0" rIns="0" tIns="0" bIns="0">
            <a:spAutoFit/>
          </a:bodyPr>
          <a:lstStyle/>
          <a:p>
            <a:pPr>
              <a:spcAft>
                <a:spcPts val="800"/>
              </a:spcAft>
              <a:defRPr sz="3600" b="1">
                <a:solidFill>
                  <a:srgbClr val="8DD5C2"/>
                </a:solidFill>
                <a:latin typeface="Arial"/>
              </a:defRPr>
            </a:pPr>
            <a:r>
              <a:t>11</a:t>
            </a:r>
          </a:p>
        </p:txBody>
      </p:sp>
      <p:sp>
        <p:nvSpPr>
          <p:cNvPr id="22" name="TextBox 21"/>
          <p:cNvSpPr txBox="1"/>
          <p:nvPr/>
        </p:nvSpPr>
        <p:spPr>
          <a:xfrm>
            <a:off x="9006840" y="4242816"/>
            <a:ext cx="2194560" cy="502920"/>
          </a:xfrm>
          <a:prstGeom prst="rect">
            <a:avLst/>
          </a:prstGeom>
          <a:noFill/>
        </p:spPr>
        <p:txBody>
          <a:bodyPr wrap="square" lIns="0" rIns="0" tIns="0" bIns="0">
            <a:spAutoFit/>
          </a:bodyPr>
          <a:lstStyle/>
          <a:p>
            <a:pPr>
              <a:spcAft>
                <a:spcPts val="800"/>
              </a:spcAft>
              <a:defRPr sz="1700" b="0">
                <a:solidFill>
                  <a:srgbClr val="FFFFFF"/>
                </a:solidFill>
                <a:latin typeface="Arial"/>
              </a:defRPr>
            </a:pPr>
            <a:r>
              <a:t>synthetic scenarios checked</a:t>
            </a:r>
          </a:p>
        </p:txBody>
      </p:sp>
      <p:sp>
        <p:nvSpPr>
          <p:cNvPr id="23" name="TextBox 22"/>
          <p:cNvSpPr txBox="1"/>
          <p:nvPr/>
        </p:nvSpPr>
        <p:spPr>
          <a:xfrm>
            <a:off x="640080" y="5376672"/>
            <a:ext cx="6492240" cy="621792"/>
          </a:xfrm>
          <a:prstGeom prst="rect">
            <a:avLst/>
          </a:prstGeom>
          <a:noFill/>
        </p:spPr>
        <p:txBody>
          <a:bodyPr wrap="square" lIns="0" rIns="0" tIns="0" bIns="0">
            <a:spAutoFit/>
          </a:bodyPr>
          <a:lstStyle/>
          <a:p>
            <a:pPr>
              <a:spcAft>
                <a:spcPts val="800"/>
              </a:spcAft>
              <a:defRPr sz="1800" b="0">
                <a:solidFill>
                  <a:srgbClr val="607781"/>
                </a:solidFill>
                <a:latin typeface="Arial"/>
              </a:defRPr>
            </a:pPr>
            <a:r>
              <a:t>Also verified: production build, type checks, lint and persistence across a server restart.</a:t>
            </a:r>
          </a:p>
        </p:txBody>
      </p:sp>
      <p:sp>
        <p:nvSpPr>
          <p:cNvPr id="24" name="TextBox 23"/>
          <p:cNvSpPr txBox="1"/>
          <p:nvPr/>
        </p:nvSpPr>
        <p:spPr>
          <a:xfrm>
            <a:off x="640080" y="6044184"/>
            <a:ext cx="10972800" cy="256032"/>
          </a:xfrm>
          <a:prstGeom prst="rect">
            <a:avLst/>
          </a:prstGeom>
          <a:noFill/>
        </p:spPr>
        <p:txBody>
          <a:bodyPr wrap="square" lIns="0" rIns="0" tIns="0" bIns="0">
            <a:spAutoFit/>
          </a:bodyPr>
          <a:lstStyle/>
          <a:p>
            <a:pPr>
              <a:spcAft>
                <a:spcPts val="800"/>
              </a:spcAft>
              <a:defRPr sz="1100" b="0">
                <a:solidFill>
                  <a:srgbClr val="607781"/>
                </a:solidFill>
                <a:latin typeface="Arial"/>
              </a:defRPr>
            </a:pPr>
            <a:r>
              <a:t>Local measured results, not national accuracy claims. PGlite is a single-instance embedded PostgreSQL prototype.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8F8"/>
        </a:solidFill>
        <a:effectLst/>
      </p:bgPr>
    </p:bg>
    <p:spTree>
      <p:nvGrpSpPr>
        <p:cNvPr id="1" name=""/>
        <p:cNvGrpSpPr/>
        <p:nvPr/>
      </p:nvGrpSpPr>
      <p:grpSpPr/>
      <p:sp>
        <p:nvSpPr>
          <p:cNvPr id="2" name="TextBox 1"/>
          <p:cNvSpPr txBox="1"/>
          <p:nvPr/>
        </p:nvSpPr>
        <p:spPr>
          <a:xfrm>
            <a:off x="594360" y="292608"/>
            <a:ext cx="10058400" cy="228600"/>
          </a:xfrm>
          <a:prstGeom prst="rect">
            <a:avLst/>
          </a:prstGeom>
          <a:noFill/>
        </p:spPr>
        <p:txBody>
          <a:bodyPr wrap="square" lIns="0" rIns="0" tIns="0" bIns="0">
            <a:spAutoFit/>
          </a:bodyPr>
          <a:lstStyle/>
          <a:p>
            <a:pPr>
              <a:spcAft>
                <a:spcPts val="800"/>
              </a:spcAft>
              <a:defRPr sz="1000" b="1">
                <a:solidFill>
                  <a:srgbClr val="087F73"/>
                </a:solidFill>
                <a:latin typeface="Arial"/>
              </a:defRPr>
            </a:pPr>
            <a:r>
              <a:t>07 / IMPACT &amp; FUTURE PLANS</a:t>
            </a:r>
          </a:p>
        </p:txBody>
      </p:sp>
      <p:sp>
        <p:nvSpPr>
          <p:cNvPr id="3" name="TextBox 2"/>
          <p:cNvSpPr txBox="1"/>
          <p:nvPr/>
        </p:nvSpPr>
        <p:spPr>
          <a:xfrm>
            <a:off x="594360" y="813816"/>
            <a:ext cx="10972800" cy="1005840"/>
          </a:xfrm>
          <a:prstGeom prst="rect">
            <a:avLst/>
          </a:prstGeom>
          <a:noFill/>
        </p:spPr>
        <p:txBody>
          <a:bodyPr wrap="square" lIns="0" rIns="0" tIns="0" bIns="0">
            <a:spAutoFit/>
          </a:bodyPr>
          <a:lstStyle/>
          <a:p>
            <a:pPr>
              <a:spcAft>
                <a:spcPts val="800"/>
              </a:spcAft>
              <a:defRPr sz="3300" b="1">
                <a:solidFill>
                  <a:srgbClr val="112F40"/>
                </a:solidFill>
                <a:latin typeface="Arial"/>
              </a:defRPr>
            </a:pPr>
            <a:r>
              <a:t>Support land offices with clearer exceptions.</a:t>
            </a:r>
          </a:p>
        </p:txBody>
      </p:sp>
      <p:sp>
        <p:nvSpPr>
          <p:cNvPr id="4" name="Rectangle 3"/>
          <p:cNvSpPr/>
          <p:nvPr/>
        </p:nvSpPr>
        <p:spPr>
          <a:xfrm>
            <a:off x="594360" y="6437376"/>
            <a:ext cx="11000232" cy="10972"/>
          </a:xfrm>
          <a:prstGeom prst="rect">
            <a:avLst/>
          </a:prstGeom>
          <a:solidFill>
            <a:srgbClr val="DCE7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6537960"/>
            <a:ext cx="8229600" cy="182880"/>
          </a:xfrm>
          <a:prstGeom prst="rect">
            <a:avLst/>
          </a:prstGeom>
          <a:noFill/>
        </p:spPr>
        <p:txBody>
          <a:bodyPr wrap="square" lIns="0" rIns="0" tIns="0" bIns="0">
            <a:spAutoFit/>
          </a:bodyPr>
          <a:lstStyle/>
          <a:p>
            <a:pPr>
              <a:spcAft>
                <a:spcPts val="800"/>
              </a:spcAft>
              <a:defRPr sz="800" b="0">
                <a:solidFill>
                  <a:srgbClr val="607781"/>
                </a:solidFill>
                <a:latin typeface="Arial"/>
              </a:defRPr>
            </a:pPr>
            <a:r>
              <a:t>BHUMI  /  LANDTECH 2026  /  P4 — SMART E-MUTATION &amp; REGISTRY</a:t>
            </a:r>
          </a:p>
        </p:txBody>
      </p:sp>
      <p:sp>
        <p:nvSpPr>
          <p:cNvPr id="6" name="TextBox 5"/>
          <p:cNvSpPr txBox="1"/>
          <p:nvPr/>
        </p:nvSpPr>
        <p:spPr>
          <a:xfrm>
            <a:off x="10972800" y="6510528"/>
            <a:ext cx="594360" cy="228600"/>
          </a:xfrm>
          <a:prstGeom prst="rect">
            <a:avLst/>
          </a:prstGeom>
          <a:noFill/>
        </p:spPr>
        <p:txBody>
          <a:bodyPr wrap="square" lIns="0" rIns="0" tIns="0" bIns="0">
            <a:spAutoFit/>
          </a:bodyPr>
          <a:lstStyle/>
          <a:p>
            <a:pPr algn="r">
              <a:spcAft>
                <a:spcPts val="800"/>
              </a:spcAft>
              <a:defRPr sz="900" b="0">
                <a:solidFill>
                  <a:srgbClr val="607781"/>
                </a:solidFill>
                <a:latin typeface="Arial"/>
              </a:defRPr>
            </a:pPr>
            <a:r>
              <a:t>08 / 09</a:t>
            </a:r>
          </a:p>
        </p:txBody>
      </p:sp>
      <p:sp>
        <p:nvSpPr>
          <p:cNvPr id="7" name="TextBox 6"/>
          <p:cNvSpPr txBox="1"/>
          <p:nvPr/>
        </p:nvSpPr>
        <p:spPr>
          <a:xfrm>
            <a:off x="612648" y="1691640"/>
            <a:ext cx="10881360" cy="640080"/>
          </a:xfrm>
          <a:prstGeom prst="rect">
            <a:avLst/>
          </a:prstGeom>
          <a:noFill/>
        </p:spPr>
        <p:txBody>
          <a:bodyPr wrap="square" lIns="0" rIns="0" tIns="0" bIns="0">
            <a:spAutoFit/>
          </a:bodyPr>
          <a:lstStyle/>
          <a:p>
            <a:pPr>
              <a:spcAft>
                <a:spcPts val="800"/>
              </a:spcAft>
              <a:defRPr sz="2200" b="0">
                <a:solidFill>
                  <a:srgbClr val="607781"/>
                </a:solidFill>
                <a:latin typeface="Arial"/>
              </a:defRPr>
            </a:pPr>
            <a:r>
              <a:t>Potential value: help reviewers focus on the exact party, share and source that need attention.</a:t>
            </a:r>
          </a:p>
        </p:txBody>
      </p:sp>
      <p:sp>
        <p:nvSpPr>
          <p:cNvPr id="8" name="Rounded Rectangle 7"/>
          <p:cNvSpPr/>
          <p:nvPr/>
        </p:nvSpPr>
        <p:spPr>
          <a:xfrm>
            <a:off x="594360" y="2606040"/>
            <a:ext cx="3474720" cy="2697480"/>
          </a:xfrm>
          <a:prstGeom prst="roundRect">
            <a:avLst>
              <a:gd name="adj" fmla="val 12000"/>
            </a:avLst>
          </a:prstGeom>
          <a:solidFill>
            <a:srgbClr val="FFFFFF"/>
          </a:solidFill>
          <a:ln>
            <a:solidFill>
              <a:srgbClr val="DCE7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804672" y="2816352"/>
            <a:ext cx="1005840" cy="310896"/>
          </a:xfrm>
          <a:prstGeom prst="roundRect">
            <a:avLst>
              <a:gd name="adj" fmla="val 12000"/>
            </a:avLst>
          </a:prstGeom>
          <a:solidFill>
            <a:srgbClr val="087F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6112" y="2875788"/>
            <a:ext cx="822960" cy="182880"/>
          </a:xfrm>
          <a:prstGeom prst="rect">
            <a:avLst/>
          </a:prstGeom>
          <a:noFill/>
        </p:spPr>
        <p:txBody>
          <a:bodyPr wrap="square" lIns="0" rIns="0" tIns="0" bIns="0">
            <a:spAutoFit/>
          </a:bodyPr>
          <a:lstStyle/>
          <a:p>
            <a:pPr>
              <a:spcAft>
                <a:spcPts val="800"/>
              </a:spcAft>
              <a:defRPr sz="900" b="1">
                <a:solidFill>
                  <a:srgbClr val="FFFFFF"/>
                </a:solidFill>
                <a:latin typeface="Arial"/>
              </a:defRPr>
            </a:pPr>
            <a:r>
              <a:t>NOW</a:t>
            </a:r>
          </a:p>
        </p:txBody>
      </p:sp>
      <p:sp>
        <p:nvSpPr>
          <p:cNvPr id="11" name="TextBox 10"/>
          <p:cNvSpPr txBox="1"/>
          <p:nvPr/>
        </p:nvSpPr>
        <p:spPr>
          <a:xfrm>
            <a:off x="804672" y="3401568"/>
            <a:ext cx="3035808" cy="731520"/>
          </a:xfrm>
          <a:prstGeom prst="rect">
            <a:avLst/>
          </a:prstGeom>
          <a:noFill/>
        </p:spPr>
        <p:txBody>
          <a:bodyPr wrap="square" lIns="0" rIns="0" tIns="0" bIns="0">
            <a:spAutoFit/>
          </a:bodyPr>
          <a:lstStyle/>
          <a:p>
            <a:pPr>
              <a:spcAft>
                <a:spcPts val="800"/>
              </a:spcAft>
              <a:defRPr sz="2400" b="1">
                <a:solidFill>
                  <a:srgbClr val="112F40"/>
                </a:solidFill>
                <a:latin typeface="Arial"/>
              </a:defRPr>
            </a:pPr>
            <a:r>
              <a:t>Synthetic prototype</a:t>
            </a:r>
          </a:p>
        </p:txBody>
      </p:sp>
      <p:sp>
        <p:nvSpPr>
          <p:cNvPr id="12" name="TextBox 11"/>
          <p:cNvSpPr txBox="1"/>
          <p:nvPr/>
        </p:nvSpPr>
        <p:spPr>
          <a:xfrm>
            <a:off x="804672" y="4251960"/>
            <a:ext cx="3035808" cy="914400"/>
          </a:xfrm>
          <a:prstGeom prst="rect">
            <a:avLst/>
          </a:prstGeom>
          <a:noFill/>
        </p:spPr>
        <p:txBody>
          <a:bodyPr wrap="square" lIns="0" rIns="0" tIns="0" bIns="0">
            <a:spAutoFit/>
          </a:bodyPr>
          <a:lstStyle/>
          <a:p>
            <a:pPr>
              <a:spcAft>
                <a:spcPts val="800"/>
              </a:spcAft>
              <a:defRPr sz="1800" b="0">
                <a:solidFill>
                  <a:srgbClr val="607781"/>
                </a:solidFill>
                <a:latin typeface="Arial"/>
              </a:defRPr>
            </a:pPr>
            <a:r>
              <a:t>Demonstrate reproducible discrepancies and a traceable review workflow.</a:t>
            </a:r>
          </a:p>
        </p:txBody>
      </p:sp>
      <p:sp>
        <p:nvSpPr>
          <p:cNvPr id="13" name="Rounded Rectangle 12"/>
          <p:cNvSpPr/>
          <p:nvPr/>
        </p:nvSpPr>
        <p:spPr>
          <a:xfrm>
            <a:off x="4361688" y="2606040"/>
            <a:ext cx="3474720" cy="2697480"/>
          </a:xfrm>
          <a:prstGeom prst="roundRect">
            <a:avLst>
              <a:gd name="adj" fmla="val 12000"/>
            </a:avLst>
          </a:prstGeom>
          <a:solidFill>
            <a:srgbClr val="FFFFFF"/>
          </a:solidFill>
          <a:ln>
            <a:solidFill>
              <a:srgbClr val="DCE7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572000" y="2816352"/>
            <a:ext cx="1005840" cy="310896"/>
          </a:xfrm>
          <a:prstGeom prst="roundRect">
            <a:avLst>
              <a:gd name="adj" fmla="val 12000"/>
            </a:avLst>
          </a:prstGeom>
          <a:solidFill>
            <a:srgbClr val="087F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63440" y="2875788"/>
            <a:ext cx="822960" cy="182880"/>
          </a:xfrm>
          <a:prstGeom prst="rect">
            <a:avLst/>
          </a:prstGeom>
          <a:noFill/>
        </p:spPr>
        <p:txBody>
          <a:bodyPr wrap="square" lIns="0" rIns="0" tIns="0" bIns="0">
            <a:spAutoFit/>
          </a:bodyPr>
          <a:lstStyle/>
          <a:p>
            <a:pPr>
              <a:spcAft>
                <a:spcPts val="800"/>
              </a:spcAft>
              <a:defRPr sz="900" b="1">
                <a:solidFill>
                  <a:srgbClr val="FFFFFF"/>
                </a:solidFill>
                <a:latin typeface="Arial"/>
              </a:defRPr>
            </a:pPr>
            <a:r>
              <a:t>NEXT</a:t>
            </a:r>
          </a:p>
        </p:txBody>
      </p:sp>
      <p:sp>
        <p:nvSpPr>
          <p:cNvPr id="16" name="TextBox 15"/>
          <p:cNvSpPr txBox="1"/>
          <p:nvPr/>
        </p:nvSpPr>
        <p:spPr>
          <a:xfrm>
            <a:off x="4572000" y="3401568"/>
            <a:ext cx="3035808" cy="731520"/>
          </a:xfrm>
          <a:prstGeom prst="rect">
            <a:avLst/>
          </a:prstGeom>
          <a:noFill/>
        </p:spPr>
        <p:txBody>
          <a:bodyPr wrap="square" lIns="0" rIns="0" tIns="0" bIns="0">
            <a:spAutoFit/>
          </a:bodyPr>
          <a:lstStyle/>
          <a:p>
            <a:pPr>
              <a:spcAft>
                <a:spcPts val="800"/>
              </a:spcAft>
              <a:defRPr sz="2400" b="1">
                <a:solidFill>
                  <a:srgbClr val="112F40"/>
                </a:solidFill>
                <a:latin typeface="Arial"/>
              </a:defRPr>
            </a:pPr>
            <a:r>
              <a:t>Authorized pilot</a:t>
            </a:r>
          </a:p>
        </p:txBody>
      </p:sp>
      <p:sp>
        <p:nvSpPr>
          <p:cNvPr id="17" name="TextBox 16"/>
          <p:cNvSpPr txBox="1"/>
          <p:nvPr/>
        </p:nvSpPr>
        <p:spPr>
          <a:xfrm>
            <a:off x="4572000" y="4251960"/>
            <a:ext cx="3035808" cy="914400"/>
          </a:xfrm>
          <a:prstGeom prst="rect">
            <a:avLst/>
          </a:prstGeom>
          <a:noFill/>
        </p:spPr>
        <p:txBody>
          <a:bodyPr wrap="square" lIns="0" rIns="0" tIns="0" bIns="0">
            <a:spAutoFit/>
          </a:bodyPr>
          <a:lstStyle/>
          <a:p>
            <a:pPr>
              <a:spcAft>
                <a:spcPts val="800"/>
              </a:spcAft>
              <a:defRPr sz="1800" b="0">
                <a:solidFill>
                  <a:srgbClr val="607781"/>
                </a:solidFill>
                <a:latin typeface="Arial"/>
              </a:defRPr>
            </a:pPr>
            <a:r>
              <a:t>Validate rules with land and legal experts using permitted data extracts.</a:t>
            </a:r>
          </a:p>
        </p:txBody>
      </p:sp>
      <p:sp>
        <p:nvSpPr>
          <p:cNvPr id="18" name="Rounded Rectangle 17"/>
          <p:cNvSpPr/>
          <p:nvPr/>
        </p:nvSpPr>
        <p:spPr>
          <a:xfrm>
            <a:off x="8129016" y="2606040"/>
            <a:ext cx="3474720" cy="2697480"/>
          </a:xfrm>
          <a:prstGeom prst="roundRect">
            <a:avLst>
              <a:gd name="adj" fmla="val 12000"/>
            </a:avLst>
          </a:prstGeom>
          <a:solidFill>
            <a:srgbClr val="FFFFFF"/>
          </a:solidFill>
          <a:ln>
            <a:solidFill>
              <a:srgbClr val="DCE7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339328" y="2816352"/>
            <a:ext cx="1005840" cy="310896"/>
          </a:xfrm>
          <a:prstGeom prst="roundRect">
            <a:avLst>
              <a:gd name="adj" fmla="val 12000"/>
            </a:avLst>
          </a:prstGeom>
          <a:solidFill>
            <a:srgbClr val="087F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430768" y="2875788"/>
            <a:ext cx="822960" cy="182880"/>
          </a:xfrm>
          <a:prstGeom prst="rect">
            <a:avLst/>
          </a:prstGeom>
          <a:noFill/>
        </p:spPr>
        <p:txBody>
          <a:bodyPr wrap="square" lIns="0" rIns="0" tIns="0" bIns="0">
            <a:spAutoFit/>
          </a:bodyPr>
          <a:lstStyle/>
          <a:p>
            <a:pPr>
              <a:spcAft>
                <a:spcPts val="800"/>
              </a:spcAft>
              <a:defRPr sz="900" b="1">
                <a:solidFill>
                  <a:srgbClr val="FFFFFF"/>
                </a:solidFill>
                <a:latin typeface="Arial"/>
              </a:defRPr>
            </a:pPr>
            <a:r>
              <a:t>LATER</a:t>
            </a:r>
          </a:p>
        </p:txBody>
      </p:sp>
      <p:sp>
        <p:nvSpPr>
          <p:cNvPr id="21" name="TextBox 20"/>
          <p:cNvSpPr txBox="1"/>
          <p:nvPr/>
        </p:nvSpPr>
        <p:spPr>
          <a:xfrm>
            <a:off x="8339328" y="3401568"/>
            <a:ext cx="3035808" cy="731520"/>
          </a:xfrm>
          <a:prstGeom prst="rect">
            <a:avLst/>
          </a:prstGeom>
          <a:noFill/>
        </p:spPr>
        <p:txBody>
          <a:bodyPr wrap="square" lIns="0" rIns="0" tIns="0" bIns="0">
            <a:spAutoFit/>
          </a:bodyPr>
          <a:lstStyle/>
          <a:p>
            <a:pPr>
              <a:spcAft>
                <a:spcPts val="800"/>
              </a:spcAft>
              <a:defRPr sz="2400" b="1">
                <a:solidFill>
                  <a:srgbClr val="112F40"/>
                </a:solidFill>
                <a:latin typeface="Arial"/>
              </a:defRPr>
            </a:pPr>
            <a:r>
              <a:t>Institutional integration</a:t>
            </a:r>
          </a:p>
        </p:txBody>
      </p:sp>
      <p:sp>
        <p:nvSpPr>
          <p:cNvPr id="22" name="TextBox 21"/>
          <p:cNvSpPr txBox="1"/>
          <p:nvPr/>
        </p:nvSpPr>
        <p:spPr>
          <a:xfrm>
            <a:off x="8339328" y="4251960"/>
            <a:ext cx="3035808" cy="914400"/>
          </a:xfrm>
          <a:prstGeom prst="rect">
            <a:avLst/>
          </a:prstGeom>
          <a:noFill/>
        </p:spPr>
        <p:txBody>
          <a:bodyPr wrap="square" lIns="0" rIns="0" tIns="0" bIns="0">
            <a:spAutoFit/>
          </a:bodyPr>
          <a:lstStyle/>
          <a:p>
            <a:pPr>
              <a:spcAft>
                <a:spcPts val="800"/>
              </a:spcAft>
              <a:defRPr sz="1800" b="0">
                <a:solidFill>
                  <a:srgbClr val="607781"/>
                </a:solidFill>
                <a:latin typeface="Arial"/>
              </a:defRPr>
            </a:pPr>
            <a:r>
              <a:t>Add hosted storage, officer identities, bilingual UX and approved interfaces.</a:t>
            </a:r>
          </a:p>
        </p:txBody>
      </p:sp>
      <p:sp>
        <p:nvSpPr>
          <p:cNvPr id="23" name="TextBox 22"/>
          <p:cNvSpPr txBox="1"/>
          <p:nvPr/>
        </p:nvSpPr>
        <p:spPr>
          <a:xfrm>
            <a:off x="658368" y="5687568"/>
            <a:ext cx="10881360" cy="502920"/>
          </a:xfrm>
          <a:prstGeom prst="rect">
            <a:avLst/>
          </a:prstGeom>
          <a:noFill/>
        </p:spPr>
        <p:txBody>
          <a:bodyPr wrap="square" lIns="0" rIns="0" tIns="0" bIns="0">
            <a:spAutoFit/>
          </a:bodyPr>
          <a:lstStyle/>
          <a:p>
            <a:pPr>
              <a:spcAft>
                <a:spcPts val="800"/>
              </a:spcAft>
              <a:defRPr sz="2000" b="1">
                <a:solidFill>
                  <a:srgbClr val="087F73"/>
                </a:solidFill>
                <a:latin typeface="Arial"/>
              </a:defRPr>
            </a:pPr>
            <a:r>
              <a:t>Complement existing e-mutation infrastructure. Do not replace official or judicial decisions.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12F40"/>
        </a:solidFill>
        <a:effectLst/>
      </p:bgPr>
    </p:bg>
    <p:spTree>
      <p:nvGrpSpPr>
        <p:cNvPr id="1" name=""/>
        <p:cNvGrpSpPr/>
        <p:nvPr/>
      </p:nvGrpSpPr>
      <p:grpSpPr/>
      <p:sp>
        <p:nvSpPr>
          <p:cNvPr id="2" name="TextBox 1"/>
          <p:cNvSpPr txBox="1"/>
          <p:nvPr/>
        </p:nvSpPr>
        <p:spPr>
          <a:xfrm>
            <a:off x="594360" y="292608"/>
            <a:ext cx="10058400" cy="228600"/>
          </a:xfrm>
          <a:prstGeom prst="rect">
            <a:avLst/>
          </a:prstGeom>
          <a:noFill/>
        </p:spPr>
        <p:txBody>
          <a:bodyPr wrap="square" lIns="0" rIns="0" tIns="0" bIns="0">
            <a:spAutoFit/>
          </a:bodyPr>
          <a:lstStyle/>
          <a:p>
            <a:pPr>
              <a:spcAft>
                <a:spcPts val="800"/>
              </a:spcAft>
              <a:defRPr sz="1000" b="1">
                <a:solidFill>
                  <a:srgbClr val="8DD5C2"/>
                </a:solidFill>
                <a:latin typeface="Arial"/>
              </a:defRPr>
            </a:pPr>
            <a:r>
              <a:t>08 / TEAM &amp; CLOSING</a:t>
            </a:r>
          </a:p>
        </p:txBody>
      </p:sp>
      <p:sp>
        <p:nvSpPr>
          <p:cNvPr id="3" name="Rectangle 2"/>
          <p:cNvSpPr/>
          <p:nvPr/>
        </p:nvSpPr>
        <p:spPr>
          <a:xfrm>
            <a:off x="594360" y="6437376"/>
            <a:ext cx="11000232" cy="10972"/>
          </a:xfrm>
          <a:prstGeom prst="rect">
            <a:avLst/>
          </a:prstGeom>
          <a:solidFill>
            <a:srgbClr val="3653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6537960"/>
            <a:ext cx="8229600" cy="182880"/>
          </a:xfrm>
          <a:prstGeom prst="rect">
            <a:avLst/>
          </a:prstGeom>
          <a:noFill/>
        </p:spPr>
        <p:txBody>
          <a:bodyPr wrap="square" lIns="0" rIns="0" tIns="0" bIns="0">
            <a:spAutoFit/>
          </a:bodyPr>
          <a:lstStyle/>
          <a:p>
            <a:pPr>
              <a:spcAft>
                <a:spcPts val="800"/>
              </a:spcAft>
              <a:defRPr sz="800" b="0">
                <a:solidFill>
                  <a:srgbClr val="A5BFC8"/>
                </a:solidFill>
                <a:latin typeface="Arial"/>
              </a:defRPr>
            </a:pPr>
            <a:r>
              <a:t>BHUMI  /  LANDTECH 2026  /  P4 — SMART E-MUTATION &amp; REGISTRY</a:t>
            </a:r>
          </a:p>
        </p:txBody>
      </p:sp>
      <p:sp>
        <p:nvSpPr>
          <p:cNvPr id="5" name="TextBox 4"/>
          <p:cNvSpPr txBox="1"/>
          <p:nvPr/>
        </p:nvSpPr>
        <p:spPr>
          <a:xfrm>
            <a:off x="10972800" y="6510528"/>
            <a:ext cx="594360" cy="228600"/>
          </a:xfrm>
          <a:prstGeom prst="rect">
            <a:avLst/>
          </a:prstGeom>
          <a:noFill/>
        </p:spPr>
        <p:txBody>
          <a:bodyPr wrap="square" lIns="0" rIns="0" tIns="0" bIns="0">
            <a:spAutoFit/>
          </a:bodyPr>
          <a:lstStyle/>
          <a:p>
            <a:pPr algn="r">
              <a:spcAft>
                <a:spcPts val="800"/>
              </a:spcAft>
              <a:defRPr sz="900" b="0">
                <a:solidFill>
                  <a:srgbClr val="A5BFC8"/>
                </a:solidFill>
                <a:latin typeface="Arial"/>
              </a:defRPr>
            </a:pPr>
            <a:r>
              <a:t>09 / 09</a:t>
            </a:r>
          </a:p>
        </p:txBody>
      </p:sp>
      <p:sp>
        <p:nvSpPr>
          <p:cNvPr id="6" name="TextBox 5"/>
          <p:cNvSpPr txBox="1"/>
          <p:nvPr/>
        </p:nvSpPr>
        <p:spPr>
          <a:xfrm>
            <a:off x="640080" y="914400"/>
            <a:ext cx="10881360" cy="594360"/>
          </a:xfrm>
          <a:prstGeom prst="rect">
            <a:avLst/>
          </a:prstGeom>
          <a:noFill/>
        </p:spPr>
        <p:txBody>
          <a:bodyPr wrap="square" lIns="0" rIns="0" tIns="0" bIns="0">
            <a:spAutoFit/>
          </a:bodyPr>
          <a:lstStyle/>
          <a:p>
            <a:pPr>
              <a:spcAft>
                <a:spcPts val="800"/>
              </a:spcAft>
              <a:defRPr sz="3400" b="1">
                <a:solidFill>
                  <a:srgbClr val="FFFFFF"/>
                </a:solidFill>
                <a:latin typeface="Arial"/>
              </a:defRPr>
            </a:pPr>
            <a:r>
              <a:t>Digital records should tell the same ownership story.</a:t>
            </a:r>
          </a:p>
        </p:txBody>
      </p:sp>
      <p:sp>
        <p:nvSpPr>
          <p:cNvPr id="7" name="TextBox 6"/>
          <p:cNvSpPr txBox="1"/>
          <p:nvPr/>
        </p:nvSpPr>
        <p:spPr>
          <a:xfrm>
            <a:off x="667512" y="1773936"/>
            <a:ext cx="10698480" cy="640080"/>
          </a:xfrm>
          <a:prstGeom prst="rect">
            <a:avLst/>
          </a:prstGeom>
          <a:noFill/>
        </p:spPr>
        <p:txBody>
          <a:bodyPr wrap="square" lIns="0" rIns="0" tIns="0" bIns="0">
            <a:spAutoFit/>
          </a:bodyPr>
          <a:lstStyle/>
          <a:p>
            <a:pPr>
              <a:spcAft>
                <a:spcPts val="800"/>
              </a:spcAft>
              <a:defRPr sz="2300" b="0">
                <a:solidFill>
                  <a:srgbClr val="C5D9DF"/>
                </a:solidFill>
                <a:latin typeface="Arial"/>
              </a:defRPr>
            </a:pPr>
            <a:r>
              <a:t>BhuMi shows where they disagree — and gives a human reviewer the evidence.</a:t>
            </a:r>
          </a:p>
        </p:txBody>
      </p:sp>
      <p:sp>
        <p:nvSpPr>
          <p:cNvPr id="8" name="Rounded Rectangle 7"/>
          <p:cNvSpPr/>
          <p:nvPr/>
        </p:nvSpPr>
        <p:spPr>
          <a:xfrm>
            <a:off x="658368" y="2788920"/>
            <a:ext cx="5285232" cy="1572768"/>
          </a:xfrm>
          <a:prstGeom prst="roundRect">
            <a:avLst>
              <a:gd name="adj" fmla="val 12000"/>
            </a:avLst>
          </a:prstGeom>
          <a:solidFill>
            <a:srgbClr val="2049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7824" y="2999232"/>
            <a:ext cx="4754880" cy="274320"/>
          </a:xfrm>
          <a:prstGeom prst="rect">
            <a:avLst/>
          </a:prstGeom>
          <a:noFill/>
        </p:spPr>
        <p:txBody>
          <a:bodyPr wrap="square" lIns="0" rIns="0" tIns="0" bIns="0">
            <a:spAutoFit/>
          </a:bodyPr>
          <a:lstStyle/>
          <a:p>
            <a:pPr>
              <a:spcAft>
                <a:spcPts val="800"/>
              </a:spcAft>
              <a:defRPr sz="1100" b="1">
                <a:solidFill>
                  <a:srgbClr val="8DD5C2"/>
                </a:solidFill>
                <a:latin typeface="Arial"/>
              </a:defRPr>
            </a:pPr>
            <a:r>
              <a:t>STUDENT 1 / TEAM LEAD</a:t>
            </a:r>
          </a:p>
        </p:txBody>
      </p:sp>
      <p:sp>
        <p:nvSpPr>
          <p:cNvPr id="10" name="TextBox 9"/>
          <p:cNvSpPr txBox="1"/>
          <p:nvPr/>
        </p:nvSpPr>
        <p:spPr>
          <a:xfrm>
            <a:off x="877824" y="3429000"/>
            <a:ext cx="4754880" cy="411480"/>
          </a:xfrm>
          <a:prstGeom prst="rect">
            <a:avLst/>
          </a:prstGeom>
          <a:noFill/>
        </p:spPr>
        <p:txBody>
          <a:bodyPr wrap="square" lIns="0" rIns="0" tIns="0" bIns="0">
            <a:spAutoFit/>
          </a:bodyPr>
          <a:lstStyle/>
          <a:p>
            <a:pPr>
              <a:spcAft>
                <a:spcPts val="800"/>
              </a:spcAft>
              <a:defRPr sz="2400" b="1">
                <a:solidFill>
                  <a:srgbClr val="FFFFFF"/>
                </a:solidFill>
                <a:latin typeface="Arial"/>
              </a:defRPr>
            </a:pPr>
            <a:r>
              <a:t>[Name · DIU ID]</a:t>
            </a:r>
          </a:p>
        </p:txBody>
      </p:sp>
      <p:sp>
        <p:nvSpPr>
          <p:cNvPr id="11" name="TextBox 10"/>
          <p:cNvSpPr txBox="1"/>
          <p:nvPr/>
        </p:nvSpPr>
        <p:spPr>
          <a:xfrm>
            <a:off x="877824" y="3931920"/>
            <a:ext cx="4754880" cy="274320"/>
          </a:xfrm>
          <a:prstGeom prst="rect">
            <a:avLst/>
          </a:prstGeom>
          <a:noFill/>
        </p:spPr>
        <p:txBody>
          <a:bodyPr wrap="square" lIns="0" rIns="0" tIns="0" bIns="0">
            <a:spAutoFit/>
          </a:bodyPr>
          <a:lstStyle/>
          <a:p>
            <a:pPr>
              <a:spcAft>
                <a:spcPts val="800"/>
              </a:spcAft>
              <a:defRPr sz="1500" b="0">
                <a:solidFill>
                  <a:srgbClr val="BAD0D8"/>
                </a:solidFill>
                <a:latin typeface="Arial"/>
              </a:defRPr>
            </a:pPr>
            <a:r>
              <a:t>Engine, data model and tests</a:t>
            </a:r>
          </a:p>
        </p:txBody>
      </p:sp>
      <p:sp>
        <p:nvSpPr>
          <p:cNvPr id="12" name="Rounded Rectangle 11"/>
          <p:cNvSpPr/>
          <p:nvPr/>
        </p:nvSpPr>
        <p:spPr>
          <a:xfrm>
            <a:off x="6236207" y="2788920"/>
            <a:ext cx="5285232" cy="1572768"/>
          </a:xfrm>
          <a:prstGeom prst="roundRect">
            <a:avLst>
              <a:gd name="adj" fmla="val 12000"/>
            </a:avLst>
          </a:prstGeom>
          <a:solidFill>
            <a:srgbClr val="2049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55664" y="2999232"/>
            <a:ext cx="4754880" cy="274320"/>
          </a:xfrm>
          <a:prstGeom prst="rect">
            <a:avLst/>
          </a:prstGeom>
          <a:noFill/>
        </p:spPr>
        <p:txBody>
          <a:bodyPr wrap="square" lIns="0" rIns="0" tIns="0" bIns="0">
            <a:spAutoFit/>
          </a:bodyPr>
          <a:lstStyle/>
          <a:p>
            <a:pPr>
              <a:spcAft>
                <a:spcPts val="800"/>
              </a:spcAft>
              <a:defRPr sz="1100" b="1">
                <a:solidFill>
                  <a:srgbClr val="8DD5C2"/>
                </a:solidFill>
                <a:latin typeface="Arial"/>
              </a:defRPr>
            </a:pPr>
            <a:r>
              <a:t>STUDENT 2 / DEVELOPER</a:t>
            </a:r>
          </a:p>
        </p:txBody>
      </p:sp>
      <p:sp>
        <p:nvSpPr>
          <p:cNvPr id="14" name="TextBox 13"/>
          <p:cNvSpPr txBox="1"/>
          <p:nvPr/>
        </p:nvSpPr>
        <p:spPr>
          <a:xfrm>
            <a:off x="6455664" y="3429000"/>
            <a:ext cx="4754880" cy="411480"/>
          </a:xfrm>
          <a:prstGeom prst="rect">
            <a:avLst/>
          </a:prstGeom>
          <a:noFill/>
        </p:spPr>
        <p:txBody>
          <a:bodyPr wrap="square" lIns="0" rIns="0" tIns="0" bIns="0">
            <a:spAutoFit/>
          </a:bodyPr>
          <a:lstStyle/>
          <a:p>
            <a:pPr>
              <a:spcAft>
                <a:spcPts val="800"/>
              </a:spcAft>
              <a:defRPr sz="2400" b="1">
                <a:solidFill>
                  <a:srgbClr val="FFFFFF"/>
                </a:solidFill>
                <a:latin typeface="Arial"/>
              </a:defRPr>
            </a:pPr>
            <a:r>
              <a:t>[Name · DIU ID]</a:t>
            </a:r>
          </a:p>
        </p:txBody>
      </p:sp>
      <p:sp>
        <p:nvSpPr>
          <p:cNvPr id="15" name="TextBox 14"/>
          <p:cNvSpPr txBox="1"/>
          <p:nvPr/>
        </p:nvSpPr>
        <p:spPr>
          <a:xfrm>
            <a:off x="6455664" y="3931920"/>
            <a:ext cx="4754880" cy="274320"/>
          </a:xfrm>
          <a:prstGeom prst="rect">
            <a:avLst/>
          </a:prstGeom>
          <a:noFill/>
        </p:spPr>
        <p:txBody>
          <a:bodyPr wrap="square" lIns="0" rIns="0" tIns="0" bIns="0">
            <a:spAutoFit/>
          </a:bodyPr>
          <a:lstStyle/>
          <a:p>
            <a:pPr>
              <a:spcAft>
                <a:spcPts val="800"/>
              </a:spcAft>
              <a:defRPr sz="1500" b="0">
                <a:solidFill>
                  <a:srgbClr val="BAD0D8"/>
                </a:solidFill>
                <a:latin typeface="Arial"/>
              </a:defRPr>
            </a:pPr>
            <a:r>
              <a:t>Interface, API and demonstration</a:t>
            </a:r>
          </a:p>
        </p:txBody>
      </p:sp>
      <p:sp>
        <p:nvSpPr>
          <p:cNvPr id="16" name="TextBox 15"/>
          <p:cNvSpPr txBox="1"/>
          <p:nvPr/>
        </p:nvSpPr>
        <p:spPr>
          <a:xfrm>
            <a:off x="704088" y="4672584"/>
            <a:ext cx="10789920" cy="548640"/>
          </a:xfrm>
          <a:prstGeom prst="rect">
            <a:avLst/>
          </a:prstGeom>
          <a:noFill/>
        </p:spPr>
        <p:txBody>
          <a:bodyPr wrap="square" lIns="0" rIns="0" tIns="0" bIns="0">
            <a:spAutoFit/>
          </a:bodyPr>
          <a:lstStyle/>
          <a:p>
            <a:pPr>
              <a:spcAft>
                <a:spcPts val="800"/>
              </a:spcAft>
              <a:defRPr sz="1700" b="0">
                <a:solidFill>
                  <a:srgbClr val="C5D9DF"/>
                </a:solidFill>
                <a:latin typeface="Arial"/>
              </a:defRPr>
            </a:pPr>
            <a:r>
              <a:t>Faculty mentor: [Name · Department]     Industry mentor: [Name · Organisation]</a:t>
            </a:r>
          </a:p>
        </p:txBody>
      </p:sp>
      <p:sp>
        <p:nvSpPr>
          <p:cNvPr id="17" name="TextBox 16">
            <a:hlinkClick r:id="rId2"/>
          </p:cNvPr>
          <p:cNvSpPr txBox="1"/>
          <p:nvPr/>
        </p:nvSpPr>
        <p:spPr>
          <a:xfrm>
            <a:off x="704088" y="5413248"/>
            <a:ext cx="10789920" cy="411480"/>
          </a:xfrm>
          <a:prstGeom prst="rect">
            <a:avLst/>
          </a:prstGeom>
          <a:noFill/>
        </p:spPr>
        <p:txBody>
          <a:bodyPr wrap="square" lIns="0" rIns="0" tIns="0" bIns="0">
            <a:spAutoFit/>
          </a:bodyPr>
          <a:lstStyle/>
          <a:p>
            <a:pPr>
              <a:spcAft>
                <a:spcPts val="800"/>
              </a:spcAft>
              <a:defRPr sz="1900" b="1">
                <a:solidFill>
                  <a:srgbClr val="8DD5C2"/>
                </a:solidFill>
                <a:latin typeface="Arial"/>
              </a:defRPr>
            </a:pPr>
            <a:r>
              <a:t>github.com/void-pronway/BhuMi-Land-Reconciliation</a:t>
            </a:r>
          </a:p>
        </p:txBody>
      </p:sp>
      <p:sp>
        <p:nvSpPr>
          <p:cNvPr id="18" name="TextBox 17"/>
          <p:cNvSpPr txBox="1"/>
          <p:nvPr/>
        </p:nvSpPr>
        <p:spPr>
          <a:xfrm>
            <a:off x="704088" y="6007608"/>
            <a:ext cx="10789920" cy="228600"/>
          </a:xfrm>
          <a:prstGeom prst="rect">
            <a:avLst/>
          </a:prstGeom>
          <a:noFill/>
        </p:spPr>
        <p:txBody>
          <a:bodyPr wrap="square" lIns="0" rIns="0" tIns="0" bIns="0">
            <a:spAutoFit/>
          </a:bodyPr>
          <a:lstStyle/>
          <a:p>
            <a:pPr>
              <a:spcAft>
                <a:spcPts val="800"/>
              </a:spcAft>
              <a:defRPr sz="1100" b="0">
                <a:solidFill>
                  <a:srgbClr val="A5BFC8"/>
                </a:solidFill>
                <a:latin typeface="Arial"/>
              </a:defRPr>
            </a:pPr>
            <a:r>
              <a:t>AI assistance: OpenAI ChatGPT (GPT-6) and Codex. Student review and ownership remain essential.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BhuMi — Land Ownership Reconciliation Engine</dc:title>
  <dc:subject>LandTech 2026 · P4 pitch deck · Synthetic prototype</dc:subject>
  <dc:creator>Team BhuMi</dc:creator>
  <cp:keywords>BhuMi, P4, land records, reconciliation, synthetic prototype</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