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 Introduce the team and BhuMi. The rebuilt product combines a bilingual guided explanation with an authenticated reviewer workflow and PostgreSQL backend. It compares the ownership that documented transactions support against the recorded mutation. All demonstration records are fictional.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Explain the record mismatch without claiming a measured national error rate. A deed records a transfer, the prior history constrains what can be transferred, and the mutation records the resulting allocation. BhuMi tests whether those three accounts agree. A balanced total alone cannot answer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These are implemented features of the rebuilt version, not future plans. The public walkthrough does not require private workspace data. The reviewer experience adds individual authentication and saved evidence. Interface translations do not rewrite original source-record text. Light and dark preferences persist between visits.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The TypeScript engine uses exact BigInt fractions. It starts from the baseline and applies sourced events in effective-date and explicit sequence order, checking transfers and evidence. It compares the expected state with a separate mutation snapshot. Missing evidence prevents false certainty. Corrected snapshots create new results, while earlier calculations remain reviewable. MATCH means the supplied records reconcile; it does not establish legal title.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seconds including a short live interaction. Choose the 100-decimal public example or reviewer parcel DEMO-P4-011. Do not mix it with the separate 120-decimal example. After Rahim sells 25, the expected interests are 35, 40 and 25. Mutation instead shows 35, 30 and 35. Both totals equal 100, but Karim is short 10 and Nabila has an unsupported extra 10. Show the exact differences and source references. A corrected snapshot with A=7/20, B=2/5 and D=1/4 should match, while the old conflicting run remains. The shared demo may already contain changes from another visitor; rehearse first or use the deterministic public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Explain what the backend enforces: individual accounts, administrator-only account management, parcel-scoped access, session revocation, origin checks, rate limits and strict input validation. Snapshot and review version checks protect against stale changes. Audit history is useful evidence, not tamper-proof storage against database administrators. Shared judge credentials are deliberately public and do not identify individual judges. These controls are a prototype foundation, not a production security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Frontend and backend run in one Next.js service, not two deployments. Hosted persistence uses external PostgreSQL with a maximum three-connection application pool and verified remote TLS. Local development can use embedded PGlite. Neon or Supabase are deployment options; do not imply which provider the live site uses without confirming it. Free services have quotas and cold starts. Monitoring is not an availability guarantee, and the live hosting configuration has not been independently verified from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As recorded in docs/validation.md: 31 unit tests and nine browser journeys passed on the embedded adapter. The eight core journeys were also checked on native PostgreSQL during the rebuild, and the added judge journey was checked separately against PostgreSQL. Restart persistence was verified on both adapters. The subsequent branding update passed the build, lint and two relevant browser journeys. Do not claim every suite was rerun after every visual edit or that remote CI and production hosting were verified. These tests are synthetic validation, not a national accuracy estimate.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Distinguish what exists from what remains. Bilingual UX, accounts and hosted PostgreSQL support are implemented. Next steps include domain review, an authorized pilot and operational controls. We have not measured officer time savings or national impact. No government integration, institutional adoption or legal verification is claimed. BhuMi should complement existing e-mutation processes and human decisions.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Preserve the names and DIU IDs supplied in the uploaded deck. Invite judges to the live URL and repository. The shared account can run checks and save reviews on fictional parcels; its changes are visible to other visitors. It cannot manage users or change its password. Verify the live deployment and rehearse before presenting; this environment could not independently reach the site. If it is unavailable, use the editable numerical example on slide 5. Confirm team roles before submission. No mentor names were supplied, so none are invented. Total speaking time is approximately five minutes, with a separate three-minute Q&amp;A. Student understanding and review of AI-assisted work remain essential.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humi.diu.my.id/?view=login" TargetMode="External"/><Relationship Id="rId3" Type="http://schemas.openxmlformats.org/officeDocument/2006/relationships/hyperlink" Target="https://github.com/void-pronway/BhuMi-Land-Reconciliation" TargetMode="External"/><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F40"/>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8DD5C2"/>
                </a:solidFill>
                <a:latin typeface="Arial"/>
              </a:defRPr>
            </a:pPr>
            <a:r>
              <a:t>LANDTECH INNOVATION HACKATHON 2026 • P4</a:t>
            </a:r>
          </a:p>
        </p:txBody>
      </p:sp>
      <p:sp>
        <p:nvSpPr>
          <p:cNvPr id="3" name="Rectangle 2"/>
          <p:cNvSpPr/>
          <p:nvPr/>
        </p:nvSpPr>
        <p:spPr>
          <a:xfrm>
            <a:off x="594360" y="6437376"/>
            <a:ext cx="11000232" cy="10972"/>
          </a:xfrm>
          <a:prstGeom prst="rect">
            <a:avLst/>
          </a:prstGeom>
          <a:solidFill>
            <a:srgbClr val="36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A5BFC8"/>
                </a:solidFill>
                <a:latin typeface="Arial"/>
              </a:defRPr>
            </a:pPr>
            <a:r>
              <a:t>BHUMI  /  LANDTECH 2026  /  P4 — SMART E-MUTATION &amp; REGISTRY</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A5BFC8"/>
                </a:solidFill>
                <a:latin typeface="Arial"/>
              </a:defRPr>
            </a:pPr>
            <a:r>
              <a:t>01 / 10</a:t>
            </a:r>
          </a:p>
        </p:txBody>
      </p:sp>
      <p:pic>
        <p:nvPicPr>
          <p:cNvPr id="6" name="Picture 5" descr="bhumi-symbol.png"/>
          <p:cNvPicPr>
            <a:picLocks noChangeAspect="1"/>
          </p:cNvPicPr>
          <p:nvPr/>
        </p:nvPicPr>
        <p:blipFill>
          <a:blip r:embed="rId2"/>
          <a:stretch>
            <a:fillRect/>
          </a:stretch>
        </p:blipFill>
        <p:spPr>
          <a:xfrm>
            <a:off x="685800" y="941832"/>
            <a:ext cx="411480" cy="411480"/>
          </a:xfrm>
          <a:prstGeom prst="rect">
            <a:avLst/>
          </a:prstGeom>
        </p:spPr>
      </p:pic>
      <p:sp>
        <p:nvSpPr>
          <p:cNvPr id="7" name="TextBox 6"/>
          <p:cNvSpPr txBox="1"/>
          <p:nvPr/>
        </p:nvSpPr>
        <p:spPr>
          <a:xfrm>
            <a:off x="1161288" y="905256"/>
            <a:ext cx="1828800" cy="457200"/>
          </a:xfrm>
          <a:prstGeom prst="rect">
            <a:avLst/>
          </a:prstGeom>
          <a:noFill/>
        </p:spPr>
        <p:txBody>
          <a:bodyPr wrap="square" lIns="0" rIns="0" tIns="0" bIns="0">
            <a:spAutoFit/>
          </a:bodyPr>
          <a:lstStyle/>
          <a:p>
            <a:pPr>
              <a:spcAft>
                <a:spcPts val="800"/>
              </a:spcAft>
              <a:defRPr sz="2500" b="1">
                <a:solidFill>
                  <a:srgbClr val="FFFFFF"/>
                </a:solidFill>
                <a:latin typeface="Arial"/>
              </a:defRPr>
            </a:pPr>
            <a:r>
              <a:t>BhuMi</a:t>
            </a:r>
          </a:p>
        </p:txBody>
      </p:sp>
      <p:sp>
        <p:nvSpPr>
          <p:cNvPr id="8" name="TextBox 7"/>
          <p:cNvSpPr txBox="1"/>
          <p:nvPr/>
        </p:nvSpPr>
        <p:spPr>
          <a:xfrm>
            <a:off x="685800" y="1965960"/>
            <a:ext cx="8686800" cy="1463040"/>
          </a:xfrm>
          <a:prstGeom prst="rect">
            <a:avLst/>
          </a:prstGeom>
          <a:noFill/>
        </p:spPr>
        <p:txBody>
          <a:bodyPr wrap="square" lIns="0" rIns="0" tIns="0" bIns="0">
            <a:spAutoFit/>
          </a:bodyPr>
          <a:lstStyle/>
          <a:p>
            <a:pPr>
              <a:spcAft>
                <a:spcPts val="800"/>
              </a:spcAft>
              <a:defRPr sz="4200" b="1">
                <a:solidFill>
                  <a:srgbClr val="FFFFFF"/>
                </a:solidFill>
                <a:latin typeface="Arial"/>
              </a:defRPr>
            </a:pPr>
            <a:r>
              <a:t>One deed.</a:t>
            </a:r>
          </a:p>
          <a:p>
            <a:pPr>
              <a:spcAft>
                <a:spcPts val="800"/>
              </a:spcAft>
              <a:defRPr sz="4200" b="1">
                <a:solidFill>
                  <a:srgbClr val="FFFFFF"/>
                </a:solidFill>
                <a:latin typeface="Arial"/>
              </a:defRPr>
            </a:pPr>
            <a:r>
              <a:t>A clearer ownership story.</a:t>
            </a:r>
          </a:p>
        </p:txBody>
      </p:sp>
      <p:sp>
        <p:nvSpPr>
          <p:cNvPr id="9" name="TextBox 8"/>
          <p:cNvSpPr txBox="1"/>
          <p:nvPr/>
        </p:nvSpPr>
        <p:spPr>
          <a:xfrm>
            <a:off x="713232" y="3767328"/>
            <a:ext cx="8046720" cy="868680"/>
          </a:xfrm>
          <a:prstGeom prst="rect">
            <a:avLst/>
          </a:prstGeom>
          <a:noFill/>
        </p:spPr>
        <p:txBody>
          <a:bodyPr wrap="square" lIns="0" rIns="0" tIns="0" bIns="0">
            <a:spAutoFit/>
          </a:bodyPr>
          <a:lstStyle/>
          <a:p>
            <a:pPr>
              <a:spcAft>
                <a:spcPts val="800"/>
              </a:spcAft>
              <a:defRPr sz="2300" b="0">
                <a:solidFill>
                  <a:srgbClr val="C5D9DF"/>
                </a:solidFill>
                <a:latin typeface="Arial"/>
              </a:defRPr>
            </a:pPr>
            <a:r>
              <a:t>An explainable land-record reconciliation prototype</a:t>
            </a:r>
          </a:p>
          <a:p>
            <a:pPr>
              <a:spcAft>
                <a:spcPts val="800"/>
              </a:spcAft>
              <a:defRPr sz="2300" b="0">
                <a:solidFill>
                  <a:srgbClr val="C5D9DF"/>
                </a:solidFill>
                <a:latin typeface="Arial"/>
              </a:defRPr>
            </a:pPr>
            <a:r>
              <a:t>for Bangladesh — built for human review.</a:t>
            </a:r>
          </a:p>
        </p:txBody>
      </p:sp>
      <p:sp>
        <p:nvSpPr>
          <p:cNvPr id="10" name="Rounded Rectangle 9"/>
          <p:cNvSpPr/>
          <p:nvPr/>
        </p:nvSpPr>
        <p:spPr>
          <a:xfrm>
            <a:off x="713232" y="5065776"/>
            <a:ext cx="4160520" cy="310896"/>
          </a:xfrm>
          <a:prstGeom prst="roundRect">
            <a:avLst>
              <a:gd name="adj" fmla="val 12000"/>
            </a:avLst>
          </a:prstGeom>
          <a:solidFill>
            <a:srgbClr val="2755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125212"/>
            <a:ext cx="3977639" cy="182880"/>
          </a:xfrm>
          <a:prstGeom prst="rect">
            <a:avLst/>
          </a:prstGeom>
          <a:noFill/>
        </p:spPr>
        <p:txBody>
          <a:bodyPr wrap="square" lIns="0" rIns="0" tIns="0" bIns="0">
            <a:spAutoFit/>
          </a:bodyPr>
          <a:lstStyle/>
          <a:p>
            <a:pPr>
              <a:spcAft>
                <a:spcPts val="800"/>
              </a:spcAft>
              <a:defRPr sz="900" b="1">
                <a:solidFill>
                  <a:srgbClr val="8DD5C2"/>
                </a:solidFill>
                <a:latin typeface="Arial"/>
              </a:defRPr>
            </a:pPr>
            <a:r>
              <a:t>BILINGUAL EXPERIENCE  /  FULL-STACK PROTOTYPE</a:t>
            </a:r>
          </a:p>
        </p:txBody>
      </p:sp>
      <p:sp>
        <p:nvSpPr>
          <p:cNvPr id="12" name="TextBox 11"/>
          <p:cNvSpPr txBox="1"/>
          <p:nvPr/>
        </p:nvSpPr>
        <p:spPr>
          <a:xfrm>
            <a:off x="713232" y="5650992"/>
            <a:ext cx="9601200" cy="384048"/>
          </a:xfrm>
          <a:prstGeom prst="rect">
            <a:avLst/>
          </a:prstGeom>
          <a:noFill/>
        </p:spPr>
        <p:txBody>
          <a:bodyPr wrap="square" lIns="0" rIns="0" tIns="0" bIns="0">
            <a:spAutoFit/>
          </a:bodyPr>
          <a:lstStyle/>
          <a:p>
            <a:pPr>
              <a:spcAft>
                <a:spcPts val="800"/>
              </a:spcAft>
              <a:defRPr sz="1800" b="0">
                <a:solidFill>
                  <a:srgbClr val="8DD5C2"/>
                </a:solidFill>
                <a:latin typeface="Arial"/>
              </a:defRPr>
            </a:pPr>
            <a:r>
              <a:t>Mashfiqur  ·  Pronway  |  Daffodil International University</a:t>
            </a:r>
          </a:p>
        </p:txBody>
      </p:sp>
      <p:pic>
        <p:nvPicPr>
          <p:cNvPr id="13" name="Picture 12" descr="bhumi-logo.png"/>
          <p:cNvPicPr>
            <a:picLocks noChangeAspect="1"/>
          </p:cNvPicPr>
          <p:nvPr/>
        </p:nvPicPr>
        <p:blipFill>
          <a:blip r:embed="rId3"/>
          <a:stretch>
            <a:fillRect/>
          </a:stretch>
        </p:blipFill>
        <p:spPr>
          <a:xfrm>
            <a:off x="9235440" y="1965960"/>
            <a:ext cx="2240280" cy="2240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01 / THE PROBLEM</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A correct total can hide an incorrect owner.</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02 / 10</a:t>
            </a:r>
          </a:p>
        </p:txBody>
      </p:sp>
      <p:sp>
        <p:nvSpPr>
          <p:cNvPr id="7" name="TextBox 6"/>
          <p:cNvSpPr txBox="1"/>
          <p:nvPr/>
        </p:nvSpPr>
        <p:spPr>
          <a:xfrm>
            <a:off x="612648" y="1737360"/>
            <a:ext cx="10789920" cy="667512"/>
          </a:xfrm>
          <a:prstGeom prst="rect">
            <a:avLst/>
          </a:prstGeom>
          <a:noFill/>
        </p:spPr>
        <p:txBody>
          <a:bodyPr wrap="square" lIns="0" rIns="0" tIns="0" bIns="0">
            <a:spAutoFit/>
          </a:bodyPr>
          <a:lstStyle/>
          <a:p>
            <a:pPr>
              <a:spcAft>
                <a:spcPts val="800"/>
              </a:spcAft>
              <a:defRPr sz="2300" b="0">
                <a:solidFill>
                  <a:srgbClr val="607781"/>
                </a:solidFill>
                <a:latin typeface="Arial"/>
              </a:defRPr>
            </a:pPr>
            <a:r>
              <a:t>Registered deeds and mutation records can disagree about who owns each share.</a:t>
            </a:r>
          </a:p>
        </p:txBody>
      </p:sp>
      <p:sp>
        <p:nvSpPr>
          <p:cNvPr id="8" name="Rounded Rectangle 7"/>
          <p:cNvSpPr/>
          <p:nvPr/>
        </p:nvSpPr>
        <p:spPr>
          <a:xfrm>
            <a:off x="594360" y="2697480"/>
            <a:ext cx="3493008" cy="242316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898648"/>
            <a:ext cx="457200" cy="365760"/>
          </a:xfrm>
          <a:prstGeom prst="rect">
            <a:avLst/>
          </a:prstGeom>
          <a:noFill/>
        </p:spPr>
        <p:txBody>
          <a:bodyPr wrap="square" lIns="0" rIns="0" tIns="0" bIns="0">
            <a:spAutoFit/>
          </a:bodyPr>
          <a:lstStyle/>
          <a:p>
            <a:pPr>
              <a:spcAft>
                <a:spcPts val="800"/>
              </a:spcAft>
              <a:defRPr sz="1800" b="1">
                <a:solidFill>
                  <a:srgbClr val="087F73"/>
                </a:solidFill>
                <a:latin typeface="Arial"/>
              </a:defRPr>
            </a:pPr>
            <a:r>
              <a:t>01</a:t>
            </a:r>
          </a:p>
        </p:txBody>
      </p:sp>
      <p:sp>
        <p:nvSpPr>
          <p:cNvPr id="10" name="TextBox 9"/>
          <p:cNvSpPr txBox="1"/>
          <p:nvPr/>
        </p:nvSpPr>
        <p:spPr>
          <a:xfrm>
            <a:off x="795528" y="3474720"/>
            <a:ext cx="3090672"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The deed</a:t>
            </a:r>
          </a:p>
        </p:txBody>
      </p:sp>
      <p:sp>
        <p:nvSpPr>
          <p:cNvPr id="11" name="TextBox 10"/>
          <p:cNvSpPr txBox="1"/>
          <p:nvPr/>
        </p:nvSpPr>
        <p:spPr>
          <a:xfrm>
            <a:off x="795528" y="4343400"/>
            <a:ext cx="3090672" cy="640080"/>
          </a:xfrm>
          <a:prstGeom prst="rect">
            <a:avLst/>
          </a:prstGeom>
          <a:noFill/>
        </p:spPr>
        <p:txBody>
          <a:bodyPr wrap="square" lIns="0" rIns="0" tIns="0" bIns="0">
            <a:spAutoFit/>
          </a:bodyPr>
          <a:lstStyle/>
          <a:p>
            <a:pPr>
              <a:spcAft>
                <a:spcPts val="800"/>
              </a:spcAft>
              <a:defRPr sz="1700" b="0">
                <a:solidFill>
                  <a:srgbClr val="607781"/>
                </a:solidFill>
                <a:latin typeface="Arial"/>
              </a:defRPr>
            </a:pPr>
            <a:r>
              <a:t>Who transferred an interest — and how much?</a:t>
            </a:r>
          </a:p>
        </p:txBody>
      </p:sp>
      <p:sp>
        <p:nvSpPr>
          <p:cNvPr id="12" name="Rounded Rectangle 11"/>
          <p:cNvSpPr/>
          <p:nvPr/>
        </p:nvSpPr>
        <p:spPr>
          <a:xfrm>
            <a:off x="4352544" y="2697480"/>
            <a:ext cx="3493008" cy="242316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898648"/>
            <a:ext cx="457200" cy="365760"/>
          </a:xfrm>
          <a:prstGeom prst="rect">
            <a:avLst/>
          </a:prstGeom>
          <a:noFill/>
        </p:spPr>
        <p:txBody>
          <a:bodyPr wrap="square" lIns="0" rIns="0" tIns="0" bIns="0">
            <a:spAutoFit/>
          </a:bodyPr>
          <a:lstStyle/>
          <a:p>
            <a:pPr>
              <a:spcAft>
                <a:spcPts val="800"/>
              </a:spcAft>
              <a:defRPr sz="1800" b="1">
                <a:solidFill>
                  <a:srgbClr val="087F73"/>
                </a:solidFill>
                <a:latin typeface="Arial"/>
              </a:defRPr>
            </a:pPr>
            <a:r>
              <a:t>02</a:t>
            </a:r>
          </a:p>
        </p:txBody>
      </p:sp>
      <p:sp>
        <p:nvSpPr>
          <p:cNvPr id="14" name="TextBox 13"/>
          <p:cNvSpPr txBox="1"/>
          <p:nvPr/>
        </p:nvSpPr>
        <p:spPr>
          <a:xfrm>
            <a:off x="4553712" y="3474720"/>
            <a:ext cx="3090672"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The history</a:t>
            </a:r>
          </a:p>
        </p:txBody>
      </p:sp>
      <p:sp>
        <p:nvSpPr>
          <p:cNvPr id="15" name="TextBox 14"/>
          <p:cNvSpPr txBox="1"/>
          <p:nvPr/>
        </p:nvSpPr>
        <p:spPr>
          <a:xfrm>
            <a:off x="4553712" y="4343400"/>
            <a:ext cx="3090672" cy="640080"/>
          </a:xfrm>
          <a:prstGeom prst="rect">
            <a:avLst/>
          </a:prstGeom>
          <a:noFill/>
        </p:spPr>
        <p:txBody>
          <a:bodyPr wrap="square" lIns="0" rIns="0" tIns="0" bIns="0">
            <a:spAutoFit/>
          </a:bodyPr>
          <a:lstStyle/>
          <a:p>
            <a:pPr>
              <a:spcAft>
                <a:spcPts val="800"/>
              </a:spcAft>
              <a:defRPr sz="1700" b="0">
                <a:solidFill>
                  <a:srgbClr val="607781"/>
                </a:solidFill>
                <a:latin typeface="Arial"/>
              </a:defRPr>
            </a:pPr>
            <a:r>
              <a:t>What did that person hold before the transfer?</a:t>
            </a:r>
          </a:p>
        </p:txBody>
      </p:sp>
      <p:sp>
        <p:nvSpPr>
          <p:cNvPr id="16" name="Rounded Rectangle 15"/>
          <p:cNvSpPr/>
          <p:nvPr/>
        </p:nvSpPr>
        <p:spPr>
          <a:xfrm>
            <a:off x="8110727" y="2697480"/>
            <a:ext cx="3493008" cy="242316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2898648"/>
            <a:ext cx="457200" cy="365760"/>
          </a:xfrm>
          <a:prstGeom prst="rect">
            <a:avLst/>
          </a:prstGeom>
          <a:noFill/>
        </p:spPr>
        <p:txBody>
          <a:bodyPr wrap="square" lIns="0" rIns="0" tIns="0" bIns="0">
            <a:spAutoFit/>
          </a:bodyPr>
          <a:lstStyle/>
          <a:p>
            <a:pPr>
              <a:spcAft>
                <a:spcPts val="800"/>
              </a:spcAft>
              <a:defRPr sz="1800" b="1">
                <a:solidFill>
                  <a:srgbClr val="087F73"/>
                </a:solidFill>
                <a:latin typeface="Arial"/>
              </a:defRPr>
            </a:pPr>
            <a:r>
              <a:t>03</a:t>
            </a:r>
          </a:p>
        </p:txBody>
      </p:sp>
      <p:sp>
        <p:nvSpPr>
          <p:cNvPr id="18" name="TextBox 17"/>
          <p:cNvSpPr txBox="1"/>
          <p:nvPr/>
        </p:nvSpPr>
        <p:spPr>
          <a:xfrm>
            <a:off x="8311896" y="3474720"/>
            <a:ext cx="3090672"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The mutation</a:t>
            </a:r>
          </a:p>
        </p:txBody>
      </p:sp>
      <p:sp>
        <p:nvSpPr>
          <p:cNvPr id="19" name="TextBox 18"/>
          <p:cNvSpPr txBox="1"/>
          <p:nvPr/>
        </p:nvSpPr>
        <p:spPr>
          <a:xfrm>
            <a:off x="8311896" y="4343400"/>
            <a:ext cx="3090672" cy="640080"/>
          </a:xfrm>
          <a:prstGeom prst="rect">
            <a:avLst/>
          </a:prstGeom>
          <a:noFill/>
        </p:spPr>
        <p:txBody>
          <a:bodyPr wrap="square" lIns="0" rIns="0" tIns="0" bIns="0">
            <a:spAutoFit/>
          </a:bodyPr>
          <a:lstStyle/>
          <a:p>
            <a:pPr>
              <a:spcAft>
                <a:spcPts val="800"/>
              </a:spcAft>
              <a:defRPr sz="1700" b="0">
                <a:solidFill>
                  <a:srgbClr val="607781"/>
                </a:solidFill>
                <a:latin typeface="Arial"/>
              </a:defRPr>
            </a:pPr>
            <a:r>
              <a:t>Who appears to hold the resulting shares?</a:t>
            </a:r>
          </a:p>
        </p:txBody>
      </p:sp>
      <p:sp>
        <p:nvSpPr>
          <p:cNvPr id="20" name="Rounded Rectangle 19"/>
          <p:cNvSpPr/>
          <p:nvPr/>
        </p:nvSpPr>
        <p:spPr>
          <a:xfrm>
            <a:off x="594360" y="5486400"/>
            <a:ext cx="11009376" cy="548640"/>
          </a:xfrm>
          <a:prstGeom prst="roundRect">
            <a:avLst>
              <a:gd name="adj" fmla="val 12000"/>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632704"/>
            <a:ext cx="10515600" cy="320040"/>
          </a:xfrm>
          <a:prstGeom prst="rect">
            <a:avLst/>
          </a:prstGeom>
          <a:noFill/>
        </p:spPr>
        <p:txBody>
          <a:bodyPr wrap="square" lIns="0" rIns="0" tIns="0" bIns="0">
            <a:spAutoFit/>
          </a:bodyPr>
          <a:lstStyle/>
          <a:p>
            <a:pPr>
              <a:spcAft>
                <a:spcPts val="800"/>
              </a:spcAft>
              <a:defRPr sz="1900" b="1">
                <a:solidFill>
                  <a:srgbClr val="FFFFFF"/>
                </a:solidFill>
                <a:latin typeface="Arial"/>
              </a:defRPr>
            </a:pPr>
            <a:r>
              <a:t>Checking only the total area can miss a loss imposed on an uninvolved co-owner.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02 / THE REBUILT EXPERIENCE</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Understand first. Review with evidence.</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03 / 10</a:t>
            </a:r>
          </a:p>
        </p:txBody>
      </p:sp>
      <p:sp>
        <p:nvSpPr>
          <p:cNvPr id="7" name="Rounded Rectangle 6"/>
          <p:cNvSpPr/>
          <p:nvPr/>
        </p:nvSpPr>
        <p:spPr>
          <a:xfrm>
            <a:off x="594360" y="1901952"/>
            <a:ext cx="5385816" cy="155448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21408"/>
            <a:ext cx="489204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Bangla + English</a:t>
            </a:r>
          </a:p>
        </p:txBody>
      </p:sp>
      <p:sp>
        <p:nvSpPr>
          <p:cNvPr id="9" name="TextBox 8"/>
          <p:cNvSpPr txBox="1"/>
          <p:nvPr/>
        </p:nvSpPr>
        <p:spPr>
          <a:xfrm>
            <a:off x="822960" y="2697480"/>
            <a:ext cx="4892040" cy="594360"/>
          </a:xfrm>
          <a:prstGeom prst="rect">
            <a:avLst/>
          </a:prstGeom>
          <a:noFill/>
        </p:spPr>
        <p:txBody>
          <a:bodyPr wrap="square" lIns="0" rIns="0" tIns="0" bIns="0">
            <a:spAutoFit/>
          </a:bodyPr>
          <a:lstStyle/>
          <a:p>
            <a:pPr>
              <a:spcAft>
                <a:spcPts val="800"/>
              </a:spcAft>
              <a:defRPr sz="1800" b="0">
                <a:solidFill>
                  <a:srgbClr val="607781"/>
                </a:solidFill>
                <a:latin typeface="Arial"/>
              </a:defRPr>
            </a:pPr>
            <a:r>
              <a:t>Switch the interface, findings and report language.</a:t>
            </a:r>
          </a:p>
        </p:txBody>
      </p:sp>
      <p:sp>
        <p:nvSpPr>
          <p:cNvPr id="10" name="Rounded Rectangle 9"/>
          <p:cNvSpPr/>
          <p:nvPr/>
        </p:nvSpPr>
        <p:spPr>
          <a:xfrm>
            <a:off x="6217920" y="1901952"/>
            <a:ext cx="5385816" cy="155448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21408"/>
            <a:ext cx="489204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A guided public example</a:t>
            </a:r>
          </a:p>
        </p:txBody>
      </p:sp>
      <p:sp>
        <p:nvSpPr>
          <p:cNvPr id="12" name="TextBox 11"/>
          <p:cNvSpPr txBox="1"/>
          <p:nvPr/>
        </p:nvSpPr>
        <p:spPr>
          <a:xfrm>
            <a:off x="6446520" y="2697480"/>
            <a:ext cx="4892040" cy="594360"/>
          </a:xfrm>
          <a:prstGeom prst="rect">
            <a:avLst/>
          </a:prstGeom>
          <a:noFill/>
        </p:spPr>
        <p:txBody>
          <a:bodyPr wrap="square" lIns="0" rIns="0" tIns="0" bIns="0">
            <a:spAutoFit/>
          </a:bodyPr>
          <a:lstStyle/>
          <a:p>
            <a:pPr>
              <a:spcAft>
                <a:spcPts val="800"/>
              </a:spcAft>
              <a:defRPr sz="1800" b="0">
                <a:solidFill>
                  <a:srgbClr val="607781"/>
                </a:solidFill>
                <a:latin typeface="Arial"/>
              </a:defRPr>
            </a:pPr>
            <a:r>
              <a:t>Learn the ownership flow without creating an account.</a:t>
            </a:r>
          </a:p>
        </p:txBody>
      </p:sp>
      <p:sp>
        <p:nvSpPr>
          <p:cNvPr id="13" name="Rounded Rectangle 12"/>
          <p:cNvSpPr/>
          <p:nvPr/>
        </p:nvSpPr>
        <p:spPr>
          <a:xfrm>
            <a:off x="594360" y="3685032"/>
            <a:ext cx="5385816" cy="155448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04488"/>
            <a:ext cx="489204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Light + dark themes</a:t>
            </a:r>
          </a:p>
        </p:txBody>
      </p:sp>
      <p:sp>
        <p:nvSpPr>
          <p:cNvPr id="15" name="TextBox 14"/>
          <p:cNvSpPr txBox="1"/>
          <p:nvPr/>
        </p:nvSpPr>
        <p:spPr>
          <a:xfrm>
            <a:off x="822960" y="4480560"/>
            <a:ext cx="4892040" cy="594360"/>
          </a:xfrm>
          <a:prstGeom prst="rect">
            <a:avLst/>
          </a:prstGeom>
          <a:noFill/>
        </p:spPr>
        <p:txBody>
          <a:bodyPr wrap="square" lIns="0" rIns="0" tIns="0" bIns="0">
            <a:spAutoFit/>
          </a:bodyPr>
          <a:lstStyle/>
          <a:p>
            <a:pPr>
              <a:spcAft>
                <a:spcPts val="800"/>
              </a:spcAft>
              <a:defRPr sz="1800" b="0">
                <a:solidFill>
                  <a:srgbClr val="607781"/>
                </a:solidFill>
                <a:latin typeface="Arial"/>
              </a:defRPr>
            </a:pPr>
            <a:r>
              <a:t>Responsive layouts for desktop and mobile.</a:t>
            </a:r>
          </a:p>
        </p:txBody>
      </p:sp>
      <p:sp>
        <p:nvSpPr>
          <p:cNvPr id="16" name="Rounded Rectangle 15"/>
          <p:cNvSpPr/>
          <p:nvPr/>
        </p:nvSpPr>
        <p:spPr>
          <a:xfrm>
            <a:off x="6217920" y="3685032"/>
            <a:ext cx="5385816" cy="155448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904488"/>
            <a:ext cx="489204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A reviewer workspace</a:t>
            </a:r>
          </a:p>
        </p:txBody>
      </p:sp>
      <p:sp>
        <p:nvSpPr>
          <p:cNvPr id="18" name="TextBox 17"/>
          <p:cNvSpPr txBox="1"/>
          <p:nvPr/>
        </p:nvSpPr>
        <p:spPr>
          <a:xfrm>
            <a:off x="6446520" y="4480560"/>
            <a:ext cx="4892040" cy="594360"/>
          </a:xfrm>
          <a:prstGeom prst="rect">
            <a:avLst/>
          </a:prstGeom>
          <a:noFill/>
        </p:spPr>
        <p:txBody>
          <a:bodyPr wrap="square" lIns="0" rIns="0" tIns="0" bIns="0">
            <a:spAutoFit/>
          </a:bodyPr>
          <a:lstStyle/>
          <a:p>
            <a:pPr>
              <a:spcAft>
                <a:spcPts val="800"/>
              </a:spcAft>
              <a:defRPr sz="1800" b="0">
                <a:solidFill>
                  <a:srgbClr val="607781"/>
                </a:solidFill>
                <a:latin typeface="Arial"/>
              </a:defRPr>
            </a:pPr>
            <a:r>
              <a:t>Assigned parcels, saved runs, cases and evidence reports.</a:t>
            </a:r>
          </a:p>
        </p:txBody>
      </p:sp>
      <p:sp>
        <p:nvSpPr>
          <p:cNvPr id="19" name="TextBox 18"/>
          <p:cNvSpPr txBox="1"/>
          <p:nvPr/>
        </p:nvSpPr>
        <p:spPr>
          <a:xfrm>
            <a:off x="685800" y="5806440"/>
            <a:ext cx="10789920" cy="338328"/>
          </a:xfrm>
          <a:prstGeom prst="rect">
            <a:avLst/>
          </a:prstGeom>
          <a:noFill/>
        </p:spPr>
        <p:txBody>
          <a:bodyPr wrap="square" lIns="0" rIns="0" tIns="0" bIns="0">
            <a:spAutoFit/>
          </a:bodyPr>
          <a:lstStyle/>
          <a:p>
            <a:pPr>
              <a:spcAft>
                <a:spcPts val="800"/>
              </a:spcAft>
              <a:defRPr sz="2000" b="1">
                <a:solidFill>
                  <a:srgbClr val="087F73"/>
                </a:solidFill>
                <a:latin typeface="Arial"/>
              </a:defRPr>
            </a:pPr>
            <a:r>
              <a:t>Designed to explain the discrepancy before asking someone to act on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03 / THE P4 RECONCILIATION ENGINE</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Reconstruct. Compare. Explain. Retain.</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04 / 10</a:t>
            </a:r>
          </a:p>
        </p:txBody>
      </p:sp>
      <p:sp>
        <p:nvSpPr>
          <p:cNvPr id="7" name="Rounded Rectangle 6"/>
          <p:cNvSpPr/>
          <p:nvPr/>
        </p:nvSpPr>
        <p:spPr>
          <a:xfrm>
            <a:off x="594360" y="1965960"/>
            <a:ext cx="2551176" cy="210312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94560"/>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53996"/>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01</a:t>
            </a:r>
          </a:p>
        </p:txBody>
      </p:sp>
      <p:sp>
        <p:nvSpPr>
          <p:cNvPr id="10" name="TextBox 9"/>
          <p:cNvSpPr txBox="1"/>
          <p:nvPr/>
        </p:nvSpPr>
        <p:spPr>
          <a:xfrm>
            <a:off x="777240" y="2761488"/>
            <a:ext cx="2148840" cy="777240"/>
          </a:xfrm>
          <a:prstGeom prst="rect">
            <a:avLst/>
          </a:prstGeom>
          <a:noFill/>
        </p:spPr>
        <p:txBody>
          <a:bodyPr wrap="square" lIns="0" rIns="0" tIns="0" bIns="0">
            <a:spAutoFit/>
          </a:bodyPr>
          <a:lstStyle/>
          <a:p>
            <a:pPr>
              <a:spcAft>
                <a:spcPts val="800"/>
              </a:spcAft>
              <a:defRPr sz="2200" b="1">
                <a:solidFill>
                  <a:srgbClr val="112F40"/>
                </a:solidFill>
                <a:latin typeface="Arial"/>
              </a:defRPr>
            </a:pPr>
            <a:r>
              <a:t>Ownership history</a:t>
            </a:r>
          </a:p>
        </p:txBody>
      </p:sp>
      <p:sp>
        <p:nvSpPr>
          <p:cNvPr id="11" name="TextBox 10"/>
          <p:cNvSpPr txBox="1"/>
          <p:nvPr/>
        </p:nvSpPr>
        <p:spPr>
          <a:xfrm>
            <a:off x="777240" y="3611880"/>
            <a:ext cx="2148840" cy="274320"/>
          </a:xfrm>
          <a:prstGeom prst="rect">
            <a:avLst/>
          </a:prstGeom>
          <a:noFill/>
        </p:spPr>
        <p:txBody>
          <a:bodyPr wrap="square" lIns="0" rIns="0" tIns="0" bIns="0">
            <a:spAutoFit/>
          </a:bodyPr>
          <a:lstStyle/>
          <a:p>
            <a:pPr>
              <a:spcAft>
                <a:spcPts val="800"/>
              </a:spcAft>
              <a:defRPr sz="1400" b="0">
                <a:solidFill>
                  <a:srgbClr val="607781"/>
                </a:solidFill>
                <a:latin typeface="Arial"/>
              </a:defRPr>
            </a:pPr>
            <a:r>
              <a:t>Baseline + sourced events</a:t>
            </a:r>
          </a:p>
        </p:txBody>
      </p:sp>
      <p:sp>
        <p:nvSpPr>
          <p:cNvPr id="12" name="TextBox 11"/>
          <p:cNvSpPr txBox="1"/>
          <p:nvPr/>
        </p:nvSpPr>
        <p:spPr>
          <a:xfrm>
            <a:off x="3191256" y="2788920"/>
            <a:ext cx="219456" cy="411480"/>
          </a:xfrm>
          <a:prstGeom prst="rect">
            <a:avLst/>
          </a:prstGeom>
          <a:noFill/>
        </p:spPr>
        <p:txBody>
          <a:bodyPr wrap="square" lIns="0" rIns="0" tIns="0" bIns="0">
            <a:spAutoFit/>
          </a:bodyPr>
          <a:lstStyle/>
          <a:p>
            <a:pPr>
              <a:spcAft>
                <a:spcPts val="800"/>
              </a:spcAft>
              <a:defRPr sz="2600" b="1">
                <a:solidFill>
                  <a:srgbClr val="087F73"/>
                </a:solidFill>
                <a:latin typeface="Arial"/>
              </a:defRPr>
            </a:pPr>
            <a:r>
              <a:t>›</a:t>
            </a:r>
          </a:p>
        </p:txBody>
      </p:sp>
      <p:sp>
        <p:nvSpPr>
          <p:cNvPr id="13" name="Rounded Rectangle 12"/>
          <p:cNvSpPr/>
          <p:nvPr/>
        </p:nvSpPr>
        <p:spPr>
          <a:xfrm>
            <a:off x="3410712" y="1965960"/>
            <a:ext cx="2551176" cy="210312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93592" y="2194560"/>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2253996"/>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02</a:t>
            </a:r>
          </a:p>
        </p:txBody>
      </p:sp>
      <p:sp>
        <p:nvSpPr>
          <p:cNvPr id="16" name="TextBox 15"/>
          <p:cNvSpPr txBox="1"/>
          <p:nvPr/>
        </p:nvSpPr>
        <p:spPr>
          <a:xfrm>
            <a:off x="3593592" y="2761488"/>
            <a:ext cx="2148840" cy="777240"/>
          </a:xfrm>
          <a:prstGeom prst="rect">
            <a:avLst/>
          </a:prstGeom>
          <a:noFill/>
        </p:spPr>
        <p:txBody>
          <a:bodyPr wrap="square" lIns="0" rIns="0" tIns="0" bIns="0">
            <a:spAutoFit/>
          </a:bodyPr>
          <a:lstStyle/>
          <a:p>
            <a:pPr>
              <a:spcAft>
                <a:spcPts val="800"/>
              </a:spcAft>
              <a:defRPr sz="2200" b="1">
                <a:solidFill>
                  <a:srgbClr val="112F40"/>
                </a:solidFill>
                <a:latin typeface="Arial"/>
              </a:defRPr>
            </a:pPr>
            <a:r>
              <a:t>Expected shares</a:t>
            </a:r>
          </a:p>
        </p:txBody>
      </p:sp>
      <p:sp>
        <p:nvSpPr>
          <p:cNvPr id="17" name="TextBox 16"/>
          <p:cNvSpPr txBox="1"/>
          <p:nvPr/>
        </p:nvSpPr>
        <p:spPr>
          <a:xfrm>
            <a:off x="3593592" y="3611880"/>
            <a:ext cx="2148840" cy="274320"/>
          </a:xfrm>
          <a:prstGeom prst="rect">
            <a:avLst/>
          </a:prstGeom>
          <a:noFill/>
        </p:spPr>
        <p:txBody>
          <a:bodyPr wrap="square" lIns="0" rIns="0" tIns="0" bIns="0">
            <a:spAutoFit/>
          </a:bodyPr>
          <a:lstStyle/>
          <a:p>
            <a:pPr>
              <a:spcAft>
                <a:spcPts val="800"/>
              </a:spcAft>
              <a:defRPr sz="1400" b="0">
                <a:solidFill>
                  <a:srgbClr val="607781"/>
                </a:solidFill>
                <a:latin typeface="Arial"/>
              </a:defRPr>
            </a:pPr>
            <a:r>
              <a:t>Replay exact allocations</a:t>
            </a:r>
          </a:p>
        </p:txBody>
      </p:sp>
      <p:sp>
        <p:nvSpPr>
          <p:cNvPr id="18" name="TextBox 17"/>
          <p:cNvSpPr txBox="1"/>
          <p:nvPr/>
        </p:nvSpPr>
        <p:spPr>
          <a:xfrm>
            <a:off x="6007608" y="2788920"/>
            <a:ext cx="219456" cy="411480"/>
          </a:xfrm>
          <a:prstGeom prst="rect">
            <a:avLst/>
          </a:prstGeom>
          <a:noFill/>
        </p:spPr>
        <p:txBody>
          <a:bodyPr wrap="square" lIns="0" rIns="0" tIns="0" bIns="0">
            <a:spAutoFit/>
          </a:bodyPr>
          <a:lstStyle/>
          <a:p>
            <a:pPr>
              <a:spcAft>
                <a:spcPts val="800"/>
              </a:spcAft>
              <a:defRPr sz="2600" b="1">
                <a:solidFill>
                  <a:srgbClr val="087F73"/>
                </a:solidFill>
                <a:latin typeface="Arial"/>
              </a:defRPr>
            </a:pPr>
            <a:r>
              <a:t>›</a:t>
            </a:r>
          </a:p>
        </p:txBody>
      </p:sp>
      <p:sp>
        <p:nvSpPr>
          <p:cNvPr id="19" name="Rounded Rectangle 18"/>
          <p:cNvSpPr/>
          <p:nvPr/>
        </p:nvSpPr>
        <p:spPr>
          <a:xfrm>
            <a:off x="6227064" y="1965960"/>
            <a:ext cx="2551176" cy="210312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9944" y="2194560"/>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1384" y="2253996"/>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03</a:t>
            </a:r>
          </a:p>
        </p:txBody>
      </p:sp>
      <p:sp>
        <p:nvSpPr>
          <p:cNvPr id="22" name="TextBox 21"/>
          <p:cNvSpPr txBox="1"/>
          <p:nvPr/>
        </p:nvSpPr>
        <p:spPr>
          <a:xfrm>
            <a:off x="6409944" y="2761488"/>
            <a:ext cx="2148840" cy="777240"/>
          </a:xfrm>
          <a:prstGeom prst="rect">
            <a:avLst/>
          </a:prstGeom>
          <a:noFill/>
        </p:spPr>
        <p:txBody>
          <a:bodyPr wrap="square" lIns="0" rIns="0" tIns="0" bIns="0">
            <a:spAutoFit/>
          </a:bodyPr>
          <a:lstStyle/>
          <a:p>
            <a:pPr>
              <a:spcAft>
                <a:spcPts val="800"/>
              </a:spcAft>
              <a:defRPr sz="2200" b="1">
                <a:solidFill>
                  <a:srgbClr val="112F40"/>
                </a:solidFill>
                <a:latin typeface="Arial"/>
              </a:defRPr>
            </a:pPr>
            <a:r>
              <a:t>Mutation comparison</a:t>
            </a:r>
          </a:p>
        </p:txBody>
      </p:sp>
      <p:sp>
        <p:nvSpPr>
          <p:cNvPr id="23" name="TextBox 22"/>
          <p:cNvSpPr txBox="1"/>
          <p:nvPr/>
        </p:nvSpPr>
        <p:spPr>
          <a:xfrm>
            <a:off x="6409944" y="3611880"/>
            <a:ext cx="2148840" cy="274320"/>
          </a:xfrm>
          <a:prstGeom prst="rect">
            <a:avLst/>
          </a:prstGeom>
          <a:noFill/>
        </p:spPr>
        <p:txBody>
          <a:bodyPr wrap="square" lIns="0" rIns="0" tIns="0" bIns="0">
            <a:spAutoFit/>
          </a:bodyPr>
          <a:lstStyle/>
          <a:p>
            <a:pPr>
              <a:spcAft>
                <a:spcPts val="800"/>
              </a:spcAft>
              <a:defRPr sz="1400" b="0">
                <a:solidFill>
                  <a:srgbClr val="607781"/>
                </a:solidFill>
                <a:latin typeface="Arial"/>
              </a:defRPr>
            </a:pPr>
            <a:r>
              <a:t>Compare every party</a:t>
            </a:r>
          </a:p>
        </p:txBody>
      </p:sp>
      <p:sp>
        <p:nvSpPr>
          <p:cNvPr id="24" name="TextBox 23"/>
          <p:cNvSpPr txBox="1"/>
          <p:nvPr/>
        </p:nvSpPr>
        <p:spPr>
          <a:xfrm>
            <a:off x="8823960" y="2788920"/>
            <a:ext cx="219456" cy="411480"/>
          </a:xfrm>
          <a:prstGeom prst="rect">
            <a:avLst/>
          </a:prstGeom>
          <a:noFill/>
        </p:spPr>
        <p:txBody>
          <a:bodyPr wrap="square" lIns="0" rIns="0" tIns="0" bIns="0">
            <a:spAutoFit/>
          </a:bodyPr>
          <a:lstStyle/>
          <a:p>
            <a:pPr>
              <a:spcAft>
                <a:spcPts val="800"/>
              </a:spcAft>
              <a:defRPr sz="2600" b="1">
                <a:solidFill>
                  <a:srgbClr val="087F73"/>
                </a:solidFill>
                <a:latin typeface="Arial"/>
              </a:defRPr>
            </a:pPr>
            <a:r>
              <a:t>›</a:t>
            </a:r>
          </a:p>
        </p:txBody>
      </p:sp>
      <p:sp>
        <p:nvSpPr>
          <p:cNvPr id="25" name="Rounded Rectangle 24"/>
          <p:cNvSpPr/>
          <p:nvPr/>
        </p:nvSpPr>
        <p:spPr>
          <a:xfrm>
            <a:off x="9043416" y="1965960"/>
            <a:ext cx="2551176" cy="210312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226296" y="2194560"/>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17736" y="2253996"/>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04</a:t>
            </a:r>
          </a:p>
        </p:txBody>
      </p:sp>
      <p:sp>
        <p:nvSpPr>
          <p:cNvPr id="28" name="TextBox 27"/>
          <p:cNvSpPr txBox="1"/>
          <p:nvPr/>
        </p:nvSpPr>
        <p:spPr>
          <a:xfrm>
            <a:off x="9226296" y="2761488"/>
            <a:ext cx="2148840" cy="777240"/>
          </a:xfrm>
          <a:prstGeom prst="rect">
            <a:avLst/>
          </a:prstGeom>
          <a:noFill/>
        </p:spPr>
        <p:txBody>
          <a:bodyPr wrap="square" lIns="0" rIns="0" tIns="0" bIns="0">
            <a:spAutoFit/>
          </a:bodyPr>
          <a:lstStyle/>
          <a:p>
            <a:pPr>
              <a:spcAft>
                <a:spcPts val="800"/>
              </a:spcAft>
              <a:defRPr sz="2200" b="1">
                <a:solidFill>
                  <a:srgbClr val="112F40"/>
                </a:solidFill>
                <a:latin typeface="Arial"/>
              </a:defRPr>
            </a:pPr>
            <a:r>
              <a:t>Evidence &amp; review</a:t>
            </a:r>
          </a:p>
        </p:txBody>
      </p:sp>
      <p:sp>
        <p:nvSpPr>
          <p:cNvPr id="29" name="TextBox 28"/>
          <p:cNvSpPr txBox="1"/>
          <p:nvPr/>
        </p:nvSpPr>
        <p:spPr>
          <a:xfrm>
            <a:off x="9226296" y="3611880"/>
            <a:ext cx="2148840" cy="274320"/>
          </a:xfrm>
          <a:prstGeom prst="rect">
            <a:avLst/>
          </a:prstGeom>
          <a:noFill/>
        </p:spPr>
        <p:txBody>
          <a:bodyPr wrap="square" lIns="0" rIns="0" tIns="0" bIns="0">
            <a:spAutoFit/>
          </a:bodyPr>
          <a:lstStyle/>
          <a:p>
            <a:pPr>
              <a:spcAft>
                <a:spcPts val="800"/>
              </a:spcAft>
              <a:defRPr sz="1400" b="0">
                <a:solidFill>
                  <a:srgbClr val="607781"/>
                </a:solidFill>
                <a:latin typeface="Arial"/>
              </a:defRPr>
            </a:pPr>
            <a:r>
              <a:t>Record the next action</a:t>
            </a:r>
          </a:p>
        </p:txBody>
      </p:sp>
      <p:sp>
        <p:nvSpPr>
          <p:cNvPr id="30" name="Rounded Rectangle 29"/>
          <p:cNvSpPr/>
          <p:nvPr/>
        </p:nvSpPr>
        <p:spPr>
          <a:xfrm>
            <a:off x="594360" y="4526280"/>
            <a:ext cx="6720840" cy="1417320"/>
          </a:xfrm>
          <a:prstGeom prst="roundRect">
            <a:avLst>
              <a:gd name="adj" fmla="val 12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736592"/>
            <a:ext cx="6217920" cy="365760"/>
          </a:xfrm>
          <a:prstGeom prst="rect">
            <a:avLst/>
          </a:prstGeom>
          <a:noFill/>
        </p:spPr>
        <p:txBody>
          <a:bodyPr wrap="square" lIns="0" rIns="0" tIns="0" bIns="0">
            <a:spAutoFit/>
          </a:bodyPr>
          <a:lstStyle/>
          <a:p>
            <a:pPr>
              <a:spcAft>
                <a:spcPts val="800"/>
              </a:spcAft>
              <a:defRPr sz="2200" b="1">
                <a:solidFill>
                  <a:srgbClr val="087F73"/>
                </a:solidFill>
                <a:latin typeface="Arial"/>
              </a:defRPr>
            </a:pPr>
            <a:r>
              <a:t>Exact fractions. Explicit uncertainty.</a:t>
            </a:r>
          </a:p>
        </p:txBody>
      </p:sp>
      <p:sp>
        <p:nvSpPr>
          <p:cNvPr id="32" name="TextBox 31"/>
          <p:cNvSpPr txBox="1"/>
          <p:nvPr/>
        </p:nvSpPr>
        <p:spPr>
          <a:xfrm>
            <a:off x="822960" y="5266944"/>
            <a:ext cx="6217920" cy="457200"/>
          </a:xfrm>
          <a:prstGeom prst="rect">
            <a:avLst/>
          </a:prstGeom>
          <a:noFill/>
        </p:spPr>
        <p:txBody>
          <a:bodyPr wrap="square" lIns="0" rIns="0" tIns="0" bIns="0">
            <a:spAutoFit/>
          </a:bodyPr>
          <a:lstStyle/>
          <a:p>
            <a:pPr>
              <a:spcAft>
                <a:spcPts val="800"/>
              </a:spcAft>
              <a:defRPr sz="1700" b="0">
                <a:solidFill>
                  <a:srgbClr val="183544"/>
                </a:solidFill>
                <a:latin typeface="Arial"/>
              </a:defRPr>
            </a:pPr>
            <a:r>
              <a:t>Missing evidence or unclear order prevents a false MATCH.</a:t>
            </a:r>
          </a:p>
        </p:txBody>
      </p:sp>
      <p:sp>
        <p:nvSpPr>
          <p:cNvPr id="33" name="TextBox 32"/>
          <p:cNvSpPr txBox="1"/>
          <p:nvPr/>
        </p:nvSpPr>
        <p:spPr>
          <a:xfrm>
            <a:off x="7772400" y="4681728"/>
            <a:ext cx="3794760" cy="548640"/>
          </a:xfrm>
          <a:prstGeom prst="rect">
            <a:avLst/>
          </a:prstGeom>
          <a:noFill/>
        </p:spPr>
        <p:txBody>
          <a:bodyPr wrap="square" lIns="0" rIns="0" tIns="0" bIns="0">
            <a:spAutoFit/>
          </a:bodyPr>
          <a:lstStyle/>
          <a:p>
            <a:pPr>
              <a:spcAft>
                <a:spcPts val="800"/>
              </a:spcAft>
              <a:defRPr sz="1800" b="1">
                <a:solidFill>
                  <a:srgbClr val="112F40"/>
                </a:solidFill>
                <a:latin typeface="Arial"/>
              </a:defRPr>
            </a:pPr>
            <a:r>
              <a:t>A correction adds a new snapshot.</a:t>
            </a:r>
          </a:p>
        </p:txBody>
      </p:sp>
      <p:sp>
        <p:nvSpPr>
          <p:cNvPr id="34" name="TextBox 33"/>
          <p:cNvSpPr txBox="1"/>
          <p:nvPr/>
        </p:nvSpPr>
        <p:spPr>
          <a:xfrm>
            <a:off x="7772400" y="5276088"/>
            <a:ext cx="3794760" cy="594360"/>
          </a:xfrm>
          <a:prstGeom prst="rect">
            <a:avLst/>
          </a:prstGeom>
          <a:noFill/>
        </p:spPr>
        <p:txBody>
          <a:bodyPr wrap="square" lIns="0" rIns="0" tIns="0" bIns="0">
            <a:spAutoFit/>
          </a:bodyPr>
          <a:lstStyle/>
          <a:p>
            <a:pPr>
              <a:spcAft>
                <a:spcPts val="800"/>
              </a:spcAft>
              <a:defRPr sz="1800" b="0">
                <a:solidFill>
                  <a:srgbClr val="607781"/>
                </a:solidFill>
                <a:latin typeface="Arial"/>
              </a:defRPr>
            </a:pPr>
            <a:r>
              <a:t>Earlier runs and their findings remain 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04 / LIVE EXAMPLE • DEMO-P4-011</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100 decimals. A hidden 10-decimal shift.</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05 / 10</a:t>
            </a:r>
          </a:p>
        </p:txBody>
      </p:sp>
      <p:sp>
        <p:nvSpPr>
          <p:cNvPr id="7" name="TextBox 6"/>
          <p:cNvSpPr txBox="1"/>
          <p:nvPr/>
        </p:nvSpPr>
        <p:spPr>
          <a:xfrm>
            <a:off x="612648" y="1691640"/>
            <a:ext cx="10789920" cy="594360"/>
          </a:xfrm>
          <a:prstGeom prst="rect">
            <a:avLst/>
          </a:prstGeom>
          <a:noFill/>
        </p:spPr>
        <p:txBody>
          <a:bodyPr wrap="square" lIns="0" rIns="0" tIns="0" bIns="0">
            <a:spAutoFit/>
          </a:bodyPr>
          <a:lstStyle/>
          <a:p>
            <a:pPr>
              <a:spcAft>
                <a:spcPts val="800"/>
              </a:spcAft>
              <a:defRPr sz="2100" b="0">
                <a:solidFill>
                  <a:srgbClr val="607781"/>
                </a:solidFill>
                <a:latin typeface="Arial"/>
              </a:defRPr>
            </a:pPr>
            <a:r>
              <a:t>Fictional Rahim holds 60; Karim holds 40. Rahim sells 25 to fictional buyer Nabila.</a:t>
            </a:r>
          </a:p>
        </p:txBody>
      </p:sp>
      <p:sp>
        <p:nvSpPr>
          <p:cNvPr id="8" name="Rectangle 7"/>
          <p:cNvSpPr/>
          <p:nvPr/>
        </p:nvSpPr>
        <p:spPr>
          <a:xfrm>
            <a:off x="594360" y="2505456"/>
            <a:ext cx="3200400"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2834640"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PARTY</a:t>
            </a:r>
          </a:p>
        </p:txBody>
      </p:sp>
      <p:sp>
        <p:nvSpPr>
          <p:cNvPr id="10" name="Rectangle 9"/>
          <p:cNvSpPr/>
          <p:nvPr/>
        </p:nvSpPr>
        <p:spPr>
          <a:xfrm>
            <a:off x="3794760" y="2505456"/>
            <a:ext cx="2697480"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40" y="2651760"/>
            <a:ext cx="2331720"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EXPECTED</a:t>
            </a:r>
          </a:p>
        </p:txBody>
      </p:sp>
      <p:sp>
        <p:nvSpPr>
          <p:cNvPr id="12" name="Rectangle 11"/>
          <p:cNvSpPr/>
          <p:nvPr/>
        </p:nvSpPr>
        <p:spPr>
          <a:xfrm>
            <a:off x="6492240" y="2505456"/>
            <a:ext cx="2697480"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651760"/>
            <a:ext cx="2331720"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MUTATION</a:t>
            </a:r>
          </a:p>
        </p:txBody>
      </p:sp>
      <p:sp>
        <p:nvSpPr>
          <p:cNvPr id="14" name="Rectangle 13"/>
          <p:cNvSpPr/>
          <p:nvPr/>
        </p:nvSpPr>
        <p:spPr>
          <a:xfrm>
            <a:off x="9189720" y="2505456"/>
            <a:ext cx="2414016"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2651760"/>
            <a:ext cx="2048256"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DIFFERENCE</a:t>
            </a:r>
          </a:p>
        </p:txBody>
      </p:sp>
      <p:sp>
        <p:nvSpPr>
          <p:cNvPr id="16" name="Rectangle 15"/>
          <p:cNvSpPr/>
          <p:nvPr/>
        </p:nvSpPr>
        <p:spPr>
          <a:xfrm>
            <a:off x="594360" y="2990088"/>
            <a:ext cx="32004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18104"/>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Rahim</a:t>
            </a:r>
          </a:p>
        </p:txBody>
      </p:sp>
      <p:sp>
        <p:nvSpPr>
          <p:cNvPr id="18" name="Rectangle 17"/>
          <p:cNvSpPr/>
          <p:nvPr/>
        </p:nvSpPr>
        <p:spPr>
          <a:xfrm>
            <a:off x="3794760" y="2990088"/>
            <a:ext cx="26974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7640" y="3118104"/>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35</a:t>
            </a:r>
          </a:p>
        </p:txBody>
      </p:sp>
      <p:sp>
        <p:nvSpPr>
          <p:cNvPr id="20" name="Rectangle 19"/>
          <p:cNvSpPr/>
          <p:nvPr/>
        </p:nvSpPr>
        <p:spPr>
          <a:xfrm>
            <a:off x="6492240" y="2990088"/>
            <a:ext cx="26974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3118104"/>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35</a:t>
            </a:r>
          </a:p>
        </p:txBody>
      </p:sp>
      <p:sp>
        <p:nvSpPr>
          <p:cNvPr id="22" name="Rectangle 21"/>
          <p:cNvSpPr/>
          <p:nvPr/>
        </p:nvSpPr>
        <p:spPr>
          <a:xfrm>
            <a:off x="9189720" y="2990088"/>
            <a:ext cx="2414016"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3118104"/>
            <a:ext cx="2048256"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0</a:t>
            </a:r>
          </a:p>
        </p:txBody>
      </p:sp>
      <p:sp>
        <p:nvSpPr>
          <p:cNvPr id="24" name="Rectangle 23"/>
          <p:cNvSpPr/>
          <p:nvPr/>
        </p:nvSpPr>
        <p:spPr>
          <a:xfrm>
            <a:off x="594360" y="3557016"/>
            <a:ext cx="320040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685032"/>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Karim</a:t>
            </a:r>
          </a:p>
        </p:txBody>
      </p:sp>
      <p:sp>
        <p:nvSpPr>
          <p:cNvPr id="26" name="Rectangle 25"/>
          <p:cNvSpPr/>
          <p:nvPr/>
        </p:nvSpPr>
        <p:spPr>
          <a:xfrm>
            <a:off x="3794760" y="3557016"/>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77640" y="3685032"/>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40</a:t>
            </a:r>
          </a:p>
        </p:txBody>
      </p:sp>
      <p:sp>
        <p:nvSpPr>
          <p:cNvPr id="28" name="Rectangle 27"/>
          <p:cNvSpPr/>
          <p:nvPr/>
        </p:nvSpPr>
        <p:spPr>
          <a:xfrm>
            <a:off x="6492240" y="3557016"/>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3685032"/>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30</a:t>
            </a:r>
          </a:p>
        </p:txBody>
      </p:sp>
      <p:sp>
        <p:nvSpPr>
          <p:cNvPr id="30" name="Rectangle 29"/>
          <p:cNvSpPr/>
          <p:nvPr/>
        </p:nvSpPr>
        <p:spPr>
          <a:xfrm>
            <a:off x="9189720" y="3557016"/>
            <a:ext cx="2414016"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72600" y="3685032"/>
            <a:ext cx="2048256" cy="365760"/>
          </a:xfrm>
          <a:prstGeom prst="rect">
            <a:avLst/>
          </a:prstGeom>
          <a:noFill/>
        </p:spPr>
        <p:txBody>
          <a:bodyPr wrap="square" lIns="0" rIns="0" tIns="0" bIns="0">
            <a:spAutoFit/>
          </a:bodyPr>
          <a:lstStyle/>
          <a:p>
            <a:pPr>
              <a:spcAft>
                <a:spcPts val="800"/>
              </a:spcAft>
              <a:defRPr sz="2200" b="0">
                <a:solidFill>
                  <a:srgbClr val="B34D38"/>
                </a:solidFill>
                <a:latin typeface="Arial"/>
              </a:defRPr>
            </a:pPr>
            <a:r>
              <a:t>−10</a:t>
            </a:r>
          </a:p>
        </p:txBody>
      </p:sp>
      <p:sp>
        <p:nvSpPr>
          <p:cNvPr id="32" name="Rectangle 31"/>
          <p:cNvSpPr/>
          <p:nvPr/>
        </p:nvSpPr>
        <p:spPr>
          <a:xfrm>
            <a:off x="594360" y="4123944"/>
            <a:ext cx="320040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251959"/>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Nabila</a:t>
            </a:r>
          </a:p>
        </p:txBody>
      </p:sp>
      <p:sp>
        <p:nvSpPr>
          <p:cNvPr id="34" name="Rectangle 33"/>
          <p:cNvSpPr/>
          <p:nvPr/>
        </p:nvSpPr>
        <p:spPr>
          <a:xfrm>
            <a:off x="3794760" y="4123944"/>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77640" y="4251959"/>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25</a:t>
            </a:r>
          </a:p>
        </p:txBody>
      </p:sp>
      <p:sp>
        <p:nvSpPr>
          <p:cNvPr id="36" name="Rectangle 35"/>
          <p:cNvSpPr/>
          <p:nvPr/>
        </p:nvSpPr>
        <p:spPr>
          <a:xfrm>
            <a:off x="6492240" y="4123944"/>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4251959"/>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35</a:t>
            </a:r>
          </a:p>
        </p:txBody>
      </p:sp>
      <p:sp>
        <p:nvSpPr>
          <p:cNvPr id="38" name="Rectangle 37"/>
          <p:cNvSpPr/>
          <p:nvPr/>
        </p:nvSpPr>
        <p:spPr>
          <a:xfrm>
            <a:off x="9189720" y="4123944"/>
            <a:ext cx="2414016"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72600" y="4251959"/>
            <a:ext cx="2048256" cy="365760"/>
          </a:xfrm>
          <a:prstGeom prst="rect">
            <a:avLst/>
          </a:prstGeom>
          <a:noFill/>
        </p:spPr>
        <p:txBody>
          <a:bodyPr wrap="square" lIns="0" rIns="0" tIns="0" bIns="0">
            <a:spAutoFit/>
          </a:bodyPr>
          <a:lstStyle/>
          <a:p>
            <a:pPr>
              <a:spcAft>
                <a:spcPts val="800"/>
              </a:spcAft>
              <a:defRPr sz="2200" b="0">
                <a:solidFill>
                  <a:srgbClr val="B34D38"/>
                </a:solidFill>
                <a:latin typeface="Arial"/>
              </a:defRPr>
            </a:pPr>
            <a:r>
              <a:t>+10</a:t>
            </a:r>
          </a:p>
        </p:txBody>
      </p:sp>
      <p:sp>
        <p:nvSpPr>
          <p:cNvPr id="40" name="Rectangle 39"/>
          <p:cNvSpPr/>
          <p:nvPr/>
        </p:nvSpPr>
        <p:spPr>
          <a:xfrm>
            <a:off x="594360" y="4690872"/>
            <a:ext cx="3200400"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818888"/>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TOTAL</a:t>
            </a:r>
          </a:p>
        </p:txBody>
      </p:sp>
      <p:sp>
        <p:nvSpPr>
          <p:cNvPr id="42" name="Rectangle 41"/>
          <p:cNvSpPr/>
          <p:nvPr/>
        </p:nvSpPr>
        <p:spPr>
          <a:xfrm>
            <a:off x="3794760" y="4690872"/>
            <a:ext cx="2697480"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77640" y="4818888"/>
            <a:ext cx="233172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100</a:t>
            </a:r>
          </a:p>
        </p:txBody>
      </p:sp>
      <p:sp>
        <p:nvSpPr>
          <p:cNvPr id="44" name="Rectangle 43"/>
          <p:cNvSpPr/>
          <p:nvPr/>
        </p:nvSpPr>
        <p:spPr>
          <a:xfrm>
            <a:off x="6492240" y="4690872"/>
            <a:ext cx="2697480"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0" y="4818888"/>
            <a:ext cx="233172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100</a:t>
            </a:r>
          </a:p>
        </p:txBody>
      </p:sp>
      <p:sp>
        <p:nvSpPr>
          <p:cNvPr id="46" name="Rectangle 45"/>
          <p:cNvSpPr/>
          <p:nvPr/>
        </p:nvSpPr>
        <p:spPr>
          <a:xfrm>
            <a:off x="9189720" y="4690872"/>
            <a:ext cx="2414016"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72600" y="4818888"/>
            <a:ext cx="2048256"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0</a:t>
            </a:r>
          </a:p>
        </p:txBody>
      </p:sp>
      <p:sp>
        <p:nvSpPr>
          <p:cNvPr id="48" name="Rounded Rectangle 47"/>
          <p:cNvSpPr/>
          <p:nvPr/>
        </p:nvSpPr>
        <p:spPr>
          <a:xfrm>
            <a:off x="594360" y="5504688"/>
            <a:ext cx="11009376" cy="512064"/>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614416"/>
            <a:ext cx="10607040" cy="320040"/>
          </a:xfrm>
          <a:prstGeom prst="rect">
            <a:avLst/>
          </a:prstGeom>
          <a:noFill/>
        </p:spPr>
        <p:txBody>
          <a:bodyPr wrap="square" lIns="0" rIns="0" tIns="0" bIns="0">
            <a:spAutoFit/>
          </a:bodyPr>
          <a:lstStyle/>
          <a:p>
            <a:pPr>
              <a:spcAft>
                <a:spcPts val="800"/>
              </a:spcAft>
              <a:defRPr sz="2200" b="1">
                <a:solidFill>
                  <a:srgbClr val="FFFFFF"/>
                </a:solidFill>
                <a:latin typeface="Arial"/>
              </a:defRPr>
            </a:pPr>
            <a:r>
              <a:t>Both totals balance. Karim loses 10 without participating in the sale.</a:t>
            </a:r>
          </a:p>
        </p:txBody>
      </p:sp>
      <p:sp>
        <p:nvSpPr>
          <p:cNvPr id="50" name="TextBox 49"/>
          <p:cNvSpPr txBox="1"/>
          <p:nvPr/>
        </p:nvSpPr>
        <p:spPr>
          <a:xfrm>
            <a:off x="612648" y="6144768"/>
            <a:ext cx="10972800" cy="201168"/>
          </a:xfrm>
          <a:prstGeom prst="rect">
            <a:avLst/>
          </a:prstGeom>
          <a:noFill/>
        </p:spPr>
        <p:txBody>
          <a:bodyPr wrap="square" lIns="0" rIns="0" tIns="0" bIns="0">
            <a:spAutoFit/>
          </a:bodyPr>
          <a:lstStyle/>
          <a:p>
            <a:pPr>
              <a:spcAft>
                <a:spcPts val="800"/>
              </a:spcAft>
              <a:defRPr sz="1000" b="0">
                <a:solidFill>
                  <a:srgbClr val="607781"/>
                </a:solidFill>
                <a:latin typeface="Arial"/>
              </a:defRPr>
            </a:pPr>
            <a:r>
              <a:t>Synthetic example • Decimals equivalent of undivided interests; not surveyed parcel boundaries.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05 / BACKEND CONTROLS</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Sensitive workflows need explicit boundaries.</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06 / 10</a:t>
            </a:r>
          </a:p>
        </p:txBody>
      </p:sp>
      <p:sp>
        <p:nvSpPr>
          <p:cNvPr id="7" name="Rounded Rectangle 6"/>
          <p:cNvSpPr/>
          <p:nvPr/>
        </p:nvSpPr>
        <p:spPr>
          <a:xfrm>
            <a:off x="594360" y="1920240"/>
            <a:ext cx="5385816" cy="1536192"/>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21408"/>
            <a:ext cx="4846320" cy="457200"/>
          </a:xfrm>
          <a:prstGeom prst="rect">
            <a:avLst/>
          </a:prstGeom>
          <a:noFill/>
        </p:spPr>
        <p:txBody>
          <a:bodyPr wrap="square" lIns="0" rIns="0" tIns="0" bIns="0">
            <a:spAutoFit/>
          </a:bodyPr>
          <a:lstStyle/>
          <a:p>
            <a:pPr>
              <a:spcAft>
                <a:spcPts val="800"/>
              </a:spcAft>
              <a:defRPr sz="2300" b="1">
                <a:solidFill>
                  <a:srgbClr val="112F40"/>
                </a:solidFill>
                <a:latin typeface="Arial"/>
              </a:defRPr>
            </a:pPr>
            <a:r>
              <a:t>Individual access</a:t>
            </a:r>
          </a:p>
        </p:txBody>
      </p:sp>
      <p:sp>
        <p:nvSpPr>
          <p:cNvPr id="9" name="TextBox 8"/>
          <p:cNvSpPr txBox="1"/>
          <p:nvPr/>
        </p:nvSpPr>
        <p:spPr>
          <a:xfrm>
            <a:off x="822960" y="2706624"/>
            <a:ext cx="4846320" cy="621792"/>
          </a:xfrm>
          <a:prstGeom prst="rect">
            <a:avLst/>
          </a:prstGeom>
          <a:noFill/>
        </p:spPr>
        <p:txBody>
          <a:bodyPr wrap="square" lIns="0" rIns="0" tIns="0" bIns="0">
            <a:spAutoFit/>
          </a:bodyPr>
          <a:lstStyle/>
          <a:p>
            <a:pPr>
              <a:spcAft>
                <a:spcPts val="800"/>
              </a:spcAft>
              <a:defRPr sz="1700" b="0">
                <a:solidFill>
                  <a:srgbClr val="607781"/>
                </a:solidFill>
                <a:latin typeface="Arial"/>
              </a:defRPr>
            </a:pPr>
            <a:r>
              <a:t>Salted password hashes, expiring sessions and parcel grants.</a:t>
            </a:r>
          </a:p>
        </p:txBody>
      </p:sp>
      <p:sp>
        <p:nvSpPr>
          <p:cNvPr id="10" name="Rounded Rectangle 9"/>
          <p:cNvSpPr/>
          <p:nvPr/>
        </p:nvSpPr>
        <p:spPr>
          <a:xfrm>
            <a:off x="6217920" y="1920240"/>
            <a:ext cx="5385816" cy="1536192"/>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121408"/>
            <a:ext cx="4846320" cy="457200"/>
          </a:xfrm>
          <a:prstGeom prst="rect">
            <a:avLst/>
          </a:prstGeom>
          <a:noFill/>
        </p:spPr>
        <p:txBody>
          <a:bodyPr wrap="square" lIns="0" rIns="0" tIns="0" bIns="0">
            <a:spAutoFit/>
          </a:bodyPr>
          <a:lstStyle/>
          <a:p>
            <a:pPr>
              <a:spcAft>
                <a:spcPts val="800"/>
              </a:spcAft>
              <a:defRPr sz="2300" b="1">
                <a:solidFill>
                  <a:srgbClr val="112F40"/>
                </a:solidFill>
                <a:latin typeface="Arial"/>
              </a:defRPr>
            </a:pPr>
            <a:r>
              <a:t>Strict server validation</a:t>
            </a:r>
          </a:p>
        </p:txBody>
      </p:sp>
      <p:sp>
        <p:nvSpPr>
          <p:cNvPr id="12" name="TextBox 11"/>
          <p:cNvSpPr txBox="1"/>
          <p:nvPr/>
        </p:nvSpPr>
        <p:spPr>
          <a:xfrm>
            <a:off x="6446520" y="2706624"/>
            <a:ext cx="4846320" cy="621792"/>
          </a:xfrm>
          <a:prstGeom prst="rect">
            <a:avLst/>
          </a:prstGeom>
          <a:noFill/>
        </p:spPr>
        <p:txBody>
          <a:bodyPr wrap="square" lIns="0" rIns="0" tIns="0" bIns="0">
            <a:spAutoFit/>
          </a:bodyPr>
          <a:lstStyle/>
          <a:p>
            <a:pPr>
              <a:spcAft>
                <a:spcPts val="800"/>
              </a:spcAft>
              <a:defRPr sz="1700" b="0">
                <a:solidFill>
                  <a:srgbClr val="607781"/>
                </a:solidFill>
                <a:latin typeface="Arial"/>
              </a:defRPr>
            </a:pPr>
            <a:r>
              <a:t>Bounded inputs, exact fractions, dates and origin checks.</a:t>
            </a:r>
          </a:p>
        </p:txBody>
      </p:sp>
      <p:sp>
        <p:nvSpPr>
          <p:cNvPr id="13" name="Rounded Rectangle 12"/>
          <p:cNvSpPr/>
          <p:nvPr/>
        </p:nvSpPr>
        <p:spPr>
          <a:xfrm>
            <a:off x="594360" y="3657600"/>
            <a:ext cx="5385816" cy="1536192"/>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58768"/>
            <a:ext cx="4846320" cy="457200"/>
          </a:xfrm>
          <a:prstGeom prst="rect">
            <a:avLst/>
          </a:prstGeom>
          <a:noFill/>
        </p:spPr>
        <p:txBody>
          <a:bodyPr wrap="square" lIns="0" rIns="0" tIns="0" bIns="0">
            <a:spAutoFit/>
          </a:bodyPr>
          <a:lstStyle/>
          <a:p>
            <a:pPr>
              <a:spcAft>
                <a:spcPts val="800"/>
              </a:spcAft>
              <a:defRPr sz="2300" b="1">
                <a:solidFill>
                  <a:srgbClr val="112F40"/>
                </a:solidFill>
                <a:latin typeface="Arial"/>
              </a:defRPr>
            </a:pPr>
            <a:r>
              <a:t>Conflict protection</a:t>
            </a:r>
          </a:p>
        </p:txBody>
      </p:sp>
      <p:sp>
        <p:nvSpPr>
          <p:cNvPr id="15" name="TextBox 14"/>
          <p:cNvSpPr txBox="1"/>
          <p:nvPr/>
        </p:nvSpPr>
        <p:spPr>
          <a:xfrm>
            <a:off x="822960" y="4443984"/>
            <a:ext cx="4846320" cy="621792"/>
          </a:xfrm>
          <a:prstGeom prst="rect">
            <a:avLst/>
          </a:prstGeom>
          <a:noFill/>
        </p:spPr>
        <p:txBody>
          <a:bodyPr wrap="square" lIns="0" rIns="0" tIns="0" bIns="0">
            <a:spAutoFit/>
          </a:bodyPr>
          <a:lstStyle/>
          <a:p>
            <a:pPr>
              <a:spcAft>
                <a:spcPts val="800"/>
              </a:spcAft>
              <a:defRPr sz="1700" b="0">
                <a:solidFill>
                  <a:srgbClr val="607781"/>
                </a:solidFill>
                <a:latin typeface="Arial"/>
              </a:defRPr>
            </a:pPr>
            <a:r>
              <a:t>Stale edits and simultaneous snapshots cannot silently overwrite history.</a:t>
            </a:r>
          </a:p>
        </p:txBody>
      </p:sp>
      <p:sp>
        <p:nvSpPr>
          <p:cNvPr id="16" name="Rounded Rectangle 15"/>
          <p:cNvSpPr/>
          <p:nvPr/>
        </p:nvSpPr>
        <p:spPr>
          <a:xfrm>
            <a:off x="6217920" y="3657600"/>
            <a:ext cx="5385816" cy="1536192"/>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58768"/>
            <a:ext cx="4846320" cy="457200"/>
          </a:xfrm>
          <a:prstGeom prst="rect">
            <a:avLst/>
          </a:prstGeom>
          <a:noFill/>
        </p:spPr>
        <p:txBody>
          <a:bodyPr wrap="square" lIns="0" rIns="0" tIns="0" bIns="0">
            <a:spAutoFit/>
          </a:bodyPr>
          <a:lstStyle/>
          <a:p>
            <a:pPr>
              <a:spcAft>
                <a:spcPts val="800"/>
              </a:spcAft>
              <a:defRPr sz="2300" b="1">
                <a:solidFill>
                  <a:srgbClr val="112F40"/>
                </a:solidFill>
                <a:latin typeface="Arial"/>
              </a:defRPr>
            </a:pPr>
            <a:r>
              <a:t>Traceable review</a:t>
            </a:r>
          </a:p>
        </p:txBody>
      </p:sp>
      <p:sp>
        <p:nvSpPr>
          <p:cNvPr id="18" name="TextBox 17"/>
          <p:cNvSpPr txBox="1"/>
          <p:nvPr/>
        </p:nvSpPr>
        <p:spPr>
          <a:xfrm>
            <a:off x="6446520" y="4443984"/>
            <a:ext cx="4846320" cy="621792"/>
          </a:xfrm>
          <a:prstGeom prst="rect">
            <a:avLst/>
          </a:prstGeom>
          <a:noFill/>
        </p:spPr>
        <p:txBody>
          <a:bodyPr wrap="square" lIns="0" rIns="0" tIns="0" bIns="0">
            <a:spAutoFit/>
          </a:bodyPr>
          <a:lstStyle/>
          <a:p>
            <a:pPr>
              <a:spcAft>
                <a:spcPts val="800"/>
              </a:spcAft>
              <a:defRPr sz="1700" b="0">
                <a:solidFill>
                  <a:srgbClr val="607781"/>
                </a:solidFill>
                <a:latin typeface="Arial"/>
              </a:defRPr>
            </a:pPr>
            <a:r>
              <a:t>Named actors, recorded reasons and retained calculation results.</a:t>
            </a:r>
          </a:p>
        </p:txBody>
      </p:sp>
      <p:sp>
        <p:nvSpPr>
          <p:cNvPr id="19" name="TextBox 18"/>
          <p:cNvSpPr txBox="1"/>
          <p:nvPr/>
        </p:nvSpPr>
        <p:spPr>
          <a:xfrm>
            <a:off x="685800" y="5788152"/>
            <a:ext cx="10789920" cy="457200"/>
          </a:xfrm>
          <a:prstGeom prst="rect">
            <a:avLst/>
          </a:prstGeom>
          <a:noFill/>
        </p:spPr>
        <p:txBody>
          <a:bodyPr wrap="square" lIns="0" rIns="0" tIns="0" bIns="0">
            <a:spAutoFit/>
          </a:bodyPr>
          <a:lstStyle/>
          <a:p>
            <a:pPr>
              <a:spcAft>
                <a:spcPts val="800"/>
              </a:spcAft>
              <a:defRPr sz="1800" b="1">
                <a:solidFill>
                  <a:srgbClr val="087F73"/>
                </a:solidFill>
                <a:latin typeface="Arial"/>
              </a:defRPr>
            </a:pPr>
            <a:r>
              <a:t>Public judge access is limited to fictional demo parcels. Private credentials stay private.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06 / ARCHITECTURE &amp; FREE HOSTING</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One application. Persistent PostgreSQL.</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07 / 10</a:t>
            </a:r>
          </a:p>
        </p:txBody>
      </p:sp>
      <p:sp>
        <p:nvSpPr>
          <p:cNvPr id="7" name="Rounded Rectangle 6"/>
          <p:cNvSpPr/>
          <p:nvPr/>
        </p:nvSpPr>
        <p:spPr>
          <a:xfrm>
            <a:off x="594360" y="2011680"/>
            <a:ext cx="3017520" cy="256032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267712"/>
            <a:ext cx="2615184" cy="365760"/>
          </a:xfrm>
          <a:prstGeom prst="rect">
            <a:avLst/>
          </a:prstGeom>
          <a:noFill/>
        </p:spPr>
        <p:txBody>
          <a:bodyPr wrap="square" lIns="0" rIns="0" tIns="0" bIns="0">
            <a:spAutoFit/>
          </a:bodyPr>
          <a:lstStyle/>
          <a:p>
            <a:pPr>
              <a:spcAft>
                <a:spcPts val="800"/>
              </a:spcAft>
              <a:defRPr sz="1200" b="1">
                <a:solidFill>
                  <a:srgbClr val="087F73"/>
                </a:solidFill>
                <a:latin typeface="Arial"/>
              </a:defRPr>
            </a:pPr>
            <a:r>
              <a:t>BROWSER</a:t>
            </a:r>
          </a:p>
        </p:txBody>
      </p:sp>
      <p:sp>
        <p:nvSpPr>
          <p:cNvPr id="9" name="TextBox 8"/>
          <p:cNvSpPr txBox="1"/>
          <p:nvPr/>
        </p:nvSpPr>
        <p:spPr>
          <a:xfrm>
            <a:off x="795528" y="2880360"/>
            <a:ext cx="2615184" cy="1371600"/>
          </a:xfrm>
          <a:prstGeom prst="rect">
            <a:avLst/>
          </a:prstGeom>
          <a:noFill/>
        </p:spPr>
        <p:txBody>
          <a:bodyPr wrap="square" lIns="0" rIns="0" tIns="0" bIns="0">
            <a:spAutoFit/>
          </a:bodyPr>
          <a:lstStyle/>
          <a:p>
            <a:pPr>
              <a:spcAft>
                <a:spcPts val="800"/>
              </a:spcAft>
              <a:defRPr sz="2100" b="0">
                <a:solidFill>
                  <a:srgbClr val="112F40"/>
                </a:solidFill>
                <a:latin typeface="Arial"/>
              </a:defRPr>
            </a:pPr>
            <a:r>
              <a:t>Next.js + React</a:t>
            </a:r>
          </a:p>
          <a:p>
            <a:pPr>
              <a:spcAft>
                <a:spcPts val="800"/>
              </a:spcAft>
              <a:defRPr sz="2100" b="0">
                <a:solidFill>
                  <a:srgbClr val="112F40"/>
                </a:solidFill>
                <a:latin typeface="Arial"/>
              </a:defRPr>
            </a:pPr>
            <a:r>
              <a:t>Bangla / English</a:t>
            </a:r>
          </a:p>
          <a:p>
            <a:pPr>
              <a:spcAft>
                <a:spcPts val="800"/>
              </a:spcAft>
              <a:defRPr sz="2100" b="0">
                <a:solidFill>
                  <a:srgbClr val="112F40"/>
                </a:solidFill>
                <a:latin typeface="Arial"/>
              </a:defRPr>
            </a:pPr>
            <a:r>
              <a:t>Guided + reviewer views</a:t>
            </a:r>
          </a:p>
        </p:txBody>
      </p:sp>
      <p:sp>
        <p:nvSpPr>
          <p:cNvPr id="10" name="Rounded Rectangle 9"/>
          <p:cNvSpPr/>
          <p:nvPr/>
        </p:nvSpPr>
        <p:spPr>
          <a:xfrm>
            <a:off x="3977639" y="2011680"/>
            <a:ext cx="3749039" cy="256032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78807" y="2267712"/>
            <a:ext cx="3346703" cy="365760"/>
          </a:xfrm>
          <a:prstGeom prst="rect">
            <a:avLst/>
          </a:prstGeom>
          <a:noFill/>
        </p:spPr>
        <p:txBody>
          <a:bodyPr wrap="square" lIns="0" rIns="0" tIns="0" bIns="0">
            <a:spAutoFit/>
          </a:bodyPr>
          <a:lstStyle/>
          <a:p>
            <a:pPr>
              <a:spcAft>
                <a:spcPts val="800"/>
              </a:spcAft>
              <a:defRPr sz="1200" b="1">
                <a:solidFill>
                  <a:srgbClr val="087F73"/>
                </a:solidFill>
                <a:latin typeface="Arial"/>
              </a:defRPr>
            </a:pPr>
            <a:r>
              <a:t>RENDER WEB SERVICE</a:t>
            </a:r>
          </a:p>
        </p:txBody>
      </p:sp>
      <p:sp>
        <p:nvSpPr>
          <p:cNvPr id="12" name="TextBox 11"/>
          <p:cNvSpPr txBox="1"/>
          <p:nvPr/>
        </p:nvSpPr>
        <p:spPr>
          <a:xfrm>
            <a:off x="4178807" y="2880360"/>
            <a:ext cx="3346703" cy="1371600"/>
          </a:xfrm>
          <a:prstGeom prst="rect">
            <a:avLst/>
          </a:prstGeom>
          <a:noFill/>
        </p:spPr>
        <p:txBody>
          <a:bodyPr wrap="square" lIns="0" rIns="0" tIns="0" bIns="0">
            <a:spAutoFit/>
          </a:bodyPr>
          <a:lstStyle/>
          <a:p>
            <a:pPr>
              <a:spcAft>
                <a:spcPts val="800"/>
              </a:spcAft>
              <a:defRPr sz="2100" b="0">
                <a:solidFill>
                  <a:srgbClr val="112F40"/>
                </a:solidFill>
                <a:latin typeface="Arial"/>
              </a:defRPr>
            </a:pPr>
            <a:r>
              <a:t>Next.js frontend + API</a:t>
            </a:r>
          </a:p>
          <a:p>
            <a:pPr>
              <a:spcAft>
                <a:spcPts val="800"/>
              </a:spcAft>
              <a:defRPr sz="2100" b="0">
                <a:solidFill>
                  <a:srgbClr val="112F40"/>
                </a:solidFill>
                <a:latin typeface="Arial"/>
              </a:defRPr>
            </a:pPr>
            <a:r>
              <a:t>TypeScript + Zod</a:t>
            </a:r>
          </a:p>
          <a:p>
            <a:pPr>
              <a:spcAft>
                <a:spcPts val="800"/>
              </a:spcAft>
              <a:defRPr sz="2100" b="0">
                <a:solidFill>
                  <a:srgbClr val="112F40"/>
                </a:solidFill>
                <a:latin typeface="Arial"/>
              </a:defRPr>
            </a:pPr>
            <a:r>
              <a:t>Exact reconciliation engine</a:t>
            </a:r>
          </a:p>
        </p:txBody>
      </p:sp>
      <p:sp>
        <p:nvSpPr>
          <p:cNvPr id="13" name="Rounded Rectangle 12"/>
          <p:cNvSpPr/>
          <p:nvPr/>
        </p:nvSpPr>
        <p:spPr>
          <a:xfrm>
            <a:off x="8092440" y="2011680"/>
            <a:ext cx="3511296" cy="256032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8" y="2267712"/>
            <a:ext cx="3108960" cy="365760"/>
          </a:xfrm>
          <a:prstGeom prst="rect">
            <a:avLst/>
          </a:prstGeom>
          <a:noFill/>
        </p:spPr>
        <p:txBody>
          <a:bodyPr wrap="square" lIns="0" rIns="0" tIns="0" bIns="0">
            <a:spAutoFit/>
          </a:bodyPr>
          <a:lstStyle/>
          <a:p>
            <a:pPr>
              <a:spcAft>
                <a:spcPts val="800"/>
              </a:spcAft>
              <a:defRPr sz="1200" b="1">
                <a:solidFill>
                  <a:srgbClr val="087F73"/>
                </a:solidFill>
                <a:latin typeface="Arial"/>
              </a:defRPr>
            </a:pPr>
            <a:r>
              <a:t>EXTERNAL DATABASE</a:t>
            </a:r>
          </a:p>
        </p:txBody>
      </p:sp>
      <p:sp>
        <p:nvSpPr>
          <p:cNvPr id="15" name="TextBox 14"/>
          <p:cNvSpPr txBox="1"/>
          <p:nvPr/>
        </p:nvSpPr>
        <p:spPr>
          <a:xfrm>
            <a:off x="8293608" y="2880360"/>
            <a:ext cx="3108960" cy="1371600"/>
          </a:xfrm>
          <a:prstGeom prst="rect">
            <a:avLst/>
          </a:prstGeom>
          <a:noFill/>
        </p:spPr>
        <p:txBody>
          <a:bodyPr wrap="square" lIns="0" rIns="0" tIns="0" bIns="0">
            <a:spAutoFit/>
          </a:bodyPr>
          <a:lstStyle/>
          <a:p>
            <a:pPr>
              <a:spcAft>
                <a:spcPts val="800"/>
              </a:spcAft>
              <a:defRPr sz="2100" b="0">
                <a:solidFill>
                  <a:srgbClr val="112F40"/>
                </a:solidFill>
                <a:latin typeface="Arial"/>
              </a:defRPr>
            </a:pPr>
            <a:r>
              <a:t>PostgreSQL + Drizzle</a:t>
            </a:r>
          </a:p>
          <a:p>
            <a:pPr>
              <a:spcAft>
                <a:spcPts val="800"/>
              </a:spcAft>
              <a:defRPr sz="2100" b="0">
                <a:solidFill>
                  <a:srgbClr val="112F40"/>
                </a:solidFill>
                <a:latin typeface="Arial"/>
              </a:defRPr>
            </a:pPr>
            <a:r>
              <a:t>Accounts, runs, reviews</a:t>
            </a:r>
          </a:p>
          <a:p>
            <a:pPr>
              <a:spcAft>
                <a:spcPts val="800"/>
              </a:spcAft>
              <a:defRPr sz="2100" b="0">
                <a:solidFill>
                  <a:srgbClr val="112F40"/>
                </a:solidFill>
                <a:latin typeface="Arial"/>
              </a:defRPr>
            </a:pPr>
            <a:r>
              <a:t>Pooled connections + TLS</a:t>
            </a:r>
          </a:p>
        </p:txBody>
      </p:sp>
      <p:sp>
        <p:nvSpPr>
          <p:cNvPr id="16" name="TextBox 15"/>
          <p:cNvSpPr txBox="1"/>
          <p:nvPr/>
        </p:nvSpPr>
        <p:spPr>
          <a:xfrm>
            <a:off x="3657600" y="3108960"/>
            <a:ext cx="274320" cy="365760"/>
          </a:xfrm>
          <a:prstGeom prst="rect">
            <a:avLst/>
          </a:prstGeom>
          <a:noFill/>
        </p:spPr>
        <p:txBody>
          <a:bodyPr wrap="square" lIns="0" rIns="0" tIns="0" bIns="0">
            <a:spAutoFit/>
          </a:bodyPr>
          <a:lstStyle/>
          <a:p>
            <a:pPr>
              <a:spcAft>
                <a:spcPts val="800"/>
              </a:spcAft>
              <a:defRPr sz="2500" b="1">
                <a:solidFill>
                  <a:srgbClr val="087F73"/>
                </a:solidFill>
                <a:latin typeface="Arial"/>
              </a:defRPr>
            </a:pPr>
            <a:r>
              <a:t>›</a:t>
            </a:r>
          </a:p>
        </p:txBody>
      </p:sp>
      <p:sp>
        <p:nvSpPr>
          <p:cNvPr id="17" name="TextBox 16"/>
          <p:cNvSpPr txBox="1"/>
          <p:nvPr/>
        </p:nvSpPr>
        <p:spPr>
          <a:xfrm>
            <a:off x="7772400" y="3108960"/>
            <a:ext cx="274320" cy="365760"/>
          </a:xfrm>
          <a:prstGeom prst="rect">
            <a:avLst/>
          </a:prstGeom>
          <a:noFill/>
        </p:spPr>
        <p:txBody>
          <a:bodyPr wrap="square" lIns="0" rIns="0" tIns="0" bIns="0">
            <a:spAutoFit/>
          </a:bodyPr>
          <a:lstStyle/>
          <a:p>
            <a:pPr>
              <a:spcAft>
                <a:spcPts val="800"/>
              </a:spcAft>
              <a:defRPr sz="2500" b="1">
                <a:solidFill>
                  <a:srgbClr val="087F73"/>
                </a:solidFill>
                <a:latin typeface="Arial"/>
              </a:defRPr>
            </a:pPr>
            <a:r>
              <a:t>›</a:t>
            </a:r>
          </a:p>
        </p:txBody>
      </p:sp>
      <p:sp>
        <p:nvSpPr>
          <p:cNvPr id="18" name="TextBox 17"/>
          <p:cNvSpPr txBox="1"/>
          <p:nvPr/>
        </p:nvSpPr>
        <p:spPr>
          <a:xfrm>
            <a:off x="685800" y="5029200"/>
            <a:ext cx="10881360" cy="502920"/>
          </a:xfrm>
          <a:prstGeom prst="rect">
            <a:avLst/>
          </a:prstGeom>
          <a:noFill/>
        </p:spPr>
        <p:txBody>
          <a:bodyPr wrap="square" lIns="0" rIns="0" tIns="0" bIns="0">
            <a:spAutoFit/>
          </a:bodyPr>
          <a:lstStyle/>
          <a:p>
            <a:pPr>
              <a:spcAft>
                <a:spcPts val="800"/>
              </a:spcAft>
              <a:defRPr sz="2000" b="1">
                <a:solidFill>
                  <a:srgbClr val="183544"/>
                </a:solidFill>
                <a:latin typeface="Arial"/>
              </a:defRPr>
            </a:pPr>
            <a:r>
              <a:t>Free deployment path: Render web service + a suitable Neon or Supabase free tier.</a:t>
            </a:r>
          </a:p>
        </p:txBody>
      </p:sp>
      <p:sp>
        <p:nvSpPr>
          <p:cNvPr id="19" name="TextBox 18"/>
          <p:cNvSpPr txBox="1"/>
          <p:nvPr/>
        </p:nvSpPr>
        <p:spPr>
          <a:xfrm>
            <a:off x="685800" y="5669280"/>
            <a:ext cx="10881360" cy="438912"/>
          </a:xfrm>
          <a:prstGeom prst="rect">
            <a:avLst/>
          </a:prstGeom>
          <a:noFill/>
        </p:spPr>
        <p:txBody>
          <a:bodyPr wrap="square" lIns="0" rIns="0" tIns="0" bIns="0">
            <a:spAutoFit/>
          </a:bodyPr>
          <a:lstStyle/>
          <a:p>
            <a:pPr>
              <a:spcAft>
                <a:spcPts val="800"/>
              </a:spcAft>
              <a:defRPr sz="1700" b="0">
                <a:solidFill>
                  <a:srgbClr val="607781"/>
                </a:solidFill>
                <a:latin typeface="Arial"/>
              </a:defRPr>
            </a:pPr>
            <a:r>
              <a:t>No persistent Render disk required. Free plans have quotas and cold starts; no 24/7 guarantee.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07 / MEASURED VALIDATION</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Test the workflow, not just the calculation.</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08 / 10</a:t>
            </a:r>
          </a:p>
        </p:txBody>
      </p:sp>
      <p:sp>
        <p:nvSpPr>
          <p:cNvPr id="7" name="Rounded Rectangle 6"/>
          <p:cNvSpPr/>
          <p:nvPr/>
        </p:nvSpPr>
        <p:spPr>
          <a:xfrm>
            <a:off x="594360" y="1947672"/>
            <a:ext cx="3474720" cy="1965960"/>
          </a:xfrm>
          <a:prstGeom prst="roundRect">
            <a:avLst>
              <a:gd name="adj" fmla="val 12000"/>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12848"/>
            <a:ext cx="2971800" cy="777240"/>
          </a:xfrm>
          <a:prstGeom prst="rect">
            <a:avLst/>
          </a:prstGeom>
          <a:noFill/>
        </p:spPr>
        <p:txBody>
          <a:bodyPr wrap="square" lIns="0" rIns="0" tIns="0" bIns="0">
            <a:spAutoFit/>
          </a:bodyPr>
          <a:lstStyle/>
          <a:p>
            <a:pPr>
              <a:spcAft>
                <a:spcPts val="800"/>
              </a:spcAft>
              <a:defRPr sz="4800" b="1">
                <a:solidFill>
                  <a:srgbClr val="8DD5C2"/>
                </a:solidFill>
                <a:latin typeface="Arial"/>
              </a:defRPr>
            </a:pPr>
            <a:r>
              <a:t>31</a:t>
            </a:r>
          </a:p>
        </p:txBody>
      </p:sp>
      <p:sp>
        <p:nvSpPr>
          <p:cNvPr id="9" name="TextBox 8"/>
          <p:cNvSpPr txBox="1"/>
          <p:nvPr/>
        </p:nvSpPr>
        <p:spPr>
          <a:xfrm>
            <a:off x="822960" y="3264408"/>
            <a:ext cx="2971800" cy="365760"/>
          </a:xfrm>
          <a:prstGeom prst="rect">
            <a:avLst/>
          </a:prstGeom>
          <a:noFill/>
        </p:spPr>
        <p:txBody>
          <a:bodyPr wrap="square" lIns="0" rIns="0" tIns="0" bIns="0">
            <a:spAutoFit/>
          </a:bodyPr>
          <a:lstStyle/>
          <a:p>
            <a:pPr>
              <a:spcAft>
                <a:spcPts val="800"/>
              </a:spcAft>
              <a:defRPr sz="2000" b="0">
                <a:solidFill>
                  <a:srgbClr val="FFFFFF"/>
                </a:solidFill>
                <a:latin typeface="Arial"/>
              </a:defRPr>
            </a:pPr>
            <a:r>
              <a:t>unit tests passed</a:t>
            </a:r>
          </a:p>
        </p:txBody>
      </p:sp>
      <p:sp>
        <p:nvSpPr>
          <p:cNvPr id="10" name="Rounded Rectangle 9"/>
          <p:cNvSpPr/>
          <p:nvPr/>
        </p:nvSpPr>
        <p:spPr>
          <a:xfrm>
            <a:off x="4361688" y="1947672"/>
            <a:ext cx="3474720" cy="1965960"/>
          </a:xfrm>
          <a:prstGeom prst="roundRect">
            <a:avLst>
              <a:gd name="adj" fmla="val 12000"/>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212848"/>
            <a:ext cx="2971800" cy="777240"/>
          </a:xfrm>
          <a:prstGeom prst="rect">
            <a:avLst/>
          </a:prstGeom>
          <a:noFill/>
        </p:spPr>
        <p:txBody>
          <a:bodyPr wrap="square" lIns="0" rIns="0" tIns="0" bIns="0">
            <a:spAutoFit/>
          </a:bodyPr>
          <a:lstStyle/>
          <a:p>
            <a:pPr>
              <a:spcAft>
                <a:spcPts val="800"/>
              </a:spcAft>
              <a:defRPr sz="4800" b="1">
                <a:solidFill>
                  <a:srgbClr val="8DD5C2"/>
                </a:solidFill>
                <a:latin typeface="Arial"/>
              </a:defRPr>
            </a:pPr>
            <a:r>
              <a:t>9</a:t>
            </a:r>
          </a:p>
        </p:txBody>
      </p:sp>
      <p:sp>
        <p:nvSpPr>
          <p:cNvPr id="12" name="TextBox 11"/>
          <p:cNvSpPr txBox="1"/>
          <p:nvPr/>
        </p:nvSpPr>
        <p:spPr>
          <a:xfrm>
            <a:off x="4590288" y="3264408"/>
            <a:ext cx="2971800" cy="365760"/>
          </a:xfrm>
          <a:prstGeom prst="rect">
            <a:avLst/>
          </a:prstGeom>
          <a:noFill/>
        </p:spPr>
        <p:txBody>
          <a:bodyPr wrap="square" lIns="0" rIns="0" tIns="0" bIns="0">
            <a:spAutoFit/>
          </a:bodyPr>
          <a:lstStyle/>
          <a:p>
            <a:pPr>
              <a:spcAft>
                <a:spcPts val="800"/>
              </a:spcAft>
              <a:defRPr sz="2000" b="0">
                <a:solidFill>
                  <a:srgbClr val="FFFFFF"/>
                </a:solidFill>
                <a:latin typeface="Arial"/>
              </a:defRPr>
            </a:pPr>
            <a:r>
              <a:t>browser journeys passed</a:t>
            </a:r>
          </a:p>
        </p:txBody>
      </p:sp>
      <p:sp>
        <p:nvSpPr>
          <p:cNvPr id="13" name="Rounded Rectangle 12"/>
          <p:cNvSpPr/>
          <p:nvPr/>
        </p:nvSpPr>
        <p:spPr>
          <a:xfrm>
            <a:off x="8129016" y="1947672"/>
            <a:ext cx="3474720" cy="1965960"/>
          </a:xfrm>
          <a:prstGeom prst="roundRect">
            <a:avLst>
              <a:gd name="adj" fmla="val 12000"/>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7616" y="2212848"/>
            <a:ext cx="2971800" cy="777240"/>
          </a:xfrm>
          <a:prstGeom prst="rect">
            <a:avLst/>
          </a:prstGeom>
          <a:noFill/>
        </p:spPr>
        <p:txBody>
          <a:bodyPr wrap="square" lIns="0" rIns="0" tIns="0" bIns="0">
            <a:spAutoFit/>
          </a:bodyPr>
          <a:lstStyle/>
          <a:p>
            <a:pPr>
              <a:spcAft>
                <a:spcPts val="800"/>
              </a:spcAft>
              <a:defRPr sz="4800" b="1">
                <a:solidFill>
                  <a:srgbClr val="8DD5C2"/>
                </a:solidFill>
                <a:latin typeface="Arial"/>
              </a:defRPr>
            </a:pPr>
            <a:r>
              <a:t>11</a:t>
            </a:r>
          </a:p>
        </p:txBody>
      </p:sp>
      <p:sp>
        <p:nvSpPr>
          <p:cNvPr id="15" name="TextBox 14"/>
          <p:cNvSpPr txBox="1"/>
          <p:nvPr/>
        </p:nvSpPr>
        <p:spPr>
          <a:xfrm>
            <a:off x="8357616" y="3264408"/>
            <a:ext cx="2971800" cy="365760"/>
          </a:xfrm>
          <a:prstGeom prst="rect">
            <a:avLst/>
          </a:prstGeom>
          <a:noFill/>
        </p:spPr>
        <p:txBody>
          <a:bodyPr wrap="square" lIns="0" rIns="0" tIns="0" bIns="0">
            <a:spAutoFit/>
          </a:bodyPr>
          <a:lstStyle/>
          <a:p>
            <a:pPr>
              <a:spcAft>
                <a:spcPts val="800"/>
              </a:spcAft>
              <a:defRPr sz="2000" b="0">
                <a:solidFill>
                  <a:srgbClr val="FFFFFF"/>
                </a:solidFill>
                <a:latin typeface="Arial"/>
              </a:defRPr>
            </a:pPr>
            <a:r>
              <a:t>synthetic scenarios</a:t>
            </a:r>
          </a:p>
        </p:txBody>
      </p:sp>
      <p:sp>
        <p:nvSpPr>
          <p:cNvPr id="16" name="TextBox 15"/>
          <p:cNvSpPr txBox="1"/>
          <p:nvPr/>
        </p:nvSpPr>
        <p:spPr>
          <a:xfrm>
            <a:off x="685800" y="4343400"/>
            <a:ext cx="10789920" cy="502920"/>
          </a:xfrm>
          <a:prstGeom prst="rect">
            <a:avLst/>
          </a:prstGeom>
          <a:noFill/>
        </p:spPr>
        <p:txBody>
          <a:bodyPr wrap="square" lIns="0" rIns="0" tIns="0" bIns="0">
            <a:spAutoFit/>
          </a:bodyPr>
          <a:lstStyle/>
          <a:p>
            <a:pPr>
              <a:spcAft>
                <a:spcPts val="800"/>
              </a:spcAft>
              <a:defRPr sz="2000" b="1">
                <a:solidFill>
                  <a:srgbClr val="183544"/>
                </a:solidFill>
                <a:latin typeface="Arial"/>
              </a:defRPr>
            </a:pPr>
            <a:r>
              <a:t>Checked: bilingual demo, permissions, validation, review history and concurrent edits.</a:t>
            </a:r>
          </a:p>
        </p:txBody>
      </p:sp>
      <p:sp>
        <p:nvSpPr>
          <p:cNvPr id="17" name="TextBox 16"/>
          <p:cNvSpPr txBox="1"/>
          <p:nvPr/>
        </p:nvSpPr>
        <p:spPr>
          <a:xfrm>
            <a:off x="685800" y="5047488"/>
            <a:ext cx="10789920" cy="502920"/>
          </a:xfrm>
          <a:prstGeom prst="rect">
            <a:avLst/>
          </a:prstGeom>
          <a:noFill/>
        </p:spPr>
        <p:txBody>
          <a:bodyPr wrap="square" lIns="0" rIns="0" tIns="0" bIns="0">
            <a:spAutoFit/>
          </a:bodyPr>
          <a:lstStyle/>
          <a:p>
            <a:pPr>
              <a:spcAft>
                <a:spcPts val="800"/>
              </a:spcAft>
              <a:defRPr sz="1900" b="0">
                <a:solidFill>
                  <a:srgbClr val="607781"/>
                </a:solidFill>
                <a:latin typeface="Arial"/>
              </a:defRPr>
            </a:pPr>
            <a:r>
              <a:t>Also verified: PostgreSQL adapter, restart persistence, production build and type checks.</a:t>
            </a:r>
          </a:p>
        </p:txBody>
      </p:sp>
      <p:sp>
        <p:nvSpPr>
          <p:cNvPr id="18" name="TextBox 17"/>
          <p:cNvSpPr txBox="1"/>
          <p:nvPr/>
        </p:nvSpPr>
        <p:spPr>
          <a:xfrm>
            <a:off x="685800" y="5806440"/>
            <a:ext cx="10789920" cy="320040"/>
          </a:xfrm>
          <a:prstGeom prst="rect">
            <a:avLst/>
          </a:prstGeom>
          <a:noFill/>
        </p:spPr>
        <p:txBody>
          <a:bodyPr wrap="square" lIns="0" rIns="0" tIns="0" bIns="0">
            <a:spAutoFit/>
          </a:bodyPr>
          <a:lstStyle/>
          <a:p>
            <a:pPr>
              <a:spcAft>
                <a:spcPts val="800"/>
              </a:spcAft>
              <a:defRPr sz="1400" b="0">
                <a:solidFill>
                  <a:srgbClr val="087F73"/>
                </a:solidFill>
                <a:latin typeface="Arial"/>
              </a:defRPr>
            </a:pPr>
            <a:r>
              <a:t>Synthetic local validation • Not a claim of legal accuracy, production security or national scale.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08 / IMPACT &amp; NEXT STEPS</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Make discrepancies easier to act on.</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09 / 10</a:t>
            </a:r>
          </a:p>
        </p:txBody>
      </p:sp>
      <p:sp>
        <p:nvSpPr>
          <p:cNvPr id="7" name="Rounded Rectangle 6"/>
          <p:cNvSpPr/>
          <p:nvPr/>
        </p:nvSpPr>
        <p:spPr>
          <a:xfrm>
            <a:off x="594360" y="2212848"/>
            <a:ext cx="3474720" cy="306324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2468880"/>
            <a:ext cx="1508760"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528316"/>
            <a:ext cx="1325880"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IMPLEMENTED</a:t>
            </a:r>
          </a:p>
        </p:txBody>
      </p:sp>
      <p:sp>
        <p:nvSpPr>
          <p:cNvPr id="10" name="TextBox 9"/>
          <p:cNvSpPr txBox="1"/>
          <p:nvPr/>
        </p:nvSpPr>
        <p:spPr>
          <a:xfrm>
            <a:off x="804672" y="3099816"/>
            <a:ext cx="3035808" cy="731520"/>
          </a:xfrm>
          <a:prstGeom prst="rect">
            <a:avLst/>
          </a:prstGeom>
          <a:noFill/>
        </p:spPr>
        <p:txBody>
          <a:bodyPr wrap="square" lIns="0" rIns="0" tIns="0" bIns="0">
            <a:spAutoFit/>
          </a:bodyPr>
          <a:lstStyle/>
          <a:p>
            <a:pPr>
              <a:spcAft>
                <a:spcPts val="800"/>
              </a:spcAft>
              <a:defRPr sz="2400" b="1">
                <a:solidFill>
                  <a:srgbClr val="112F40"/>
                </a:solidFill>
                <a:latin typeface="Arial"/>
              </a:defRPr>
            </a:pPr>
            <a:r>
              <a:t>A working prototype</a:t>
            </a:r>
          </a:p>
        </p:txBody>
      </p:sp>
      <p:sp>
        <p:nvSpPr>
          <p:cNvPr id="11" name="TextBox 10"/>
          <p:cNvSpPr txBox="1"/>
          <p:nvPr/>
        </p:nvSpPr>
        <p:spPr>
          <a:xfrm>
            <a:off x="804672" y="4023360"/>
            <a:ext cx="3035808" cy="1051560"/>
          </a:xfrm>
          <a:prstGeom prst="rect">
            <a:avLst/>
          </a:prstGeom>
          <a:noFill/>
        </p:spPr>
        <p:txBody>
          <a:bodyPr wrap="square" lIns="0" rIns="0" tIns="0" bIns="0">
            <a:spAutoFit/>
          </a:bodyPr>
          <a:lstStyle/>
          <a:p>
            <a:pPr>
              <a:spcAft>
                <a:spcPts val="800"/>
              </a:spcAft>
              <a:defRPr sz="1800" b="0">
                <a:solidFill>
                  <a:srgbClr val="607781"/>
                </a:solidFill>
                <a:latin typeface="Arial"/>
              </a:defRPr>
            </a:pPr>
            <a:r>
              <a:t>Bilingual UX, exact reconciliation, individual accounts and PostgreSQL support.</a:t>
            </a:r>
          </a:p>
        </p:txBody>
      </p:sp>
      <p:sp>
        <p:nvSpPr>
          <p:cNvPr id="12" name="Rounded Rectangle 11"/>
          <p:cNvSpPr/>
          <p:nvPr/>
        </p:nvSpPr>
        <p:spPr>
          <a:xfrm>
            <a:off x="4361688" y="2212848"/>
            <a:ext cx="3474720" cy="306324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0" y="2468880"/>
            <a:ext cx="1508760"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528316"/>
            <a:ext cx="1325880"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NEXT</a:t>
            </a:r>
          </a:p>
        </p:txBody>
      </p:sp>
      <p:sp>
        <p:nvSpPr>
          <p:cNvPr id="15" name="TextBox 14"/>
          <p:cNvSpPr txBox="1"/>
          <p:nvPr/>
        </p:nvSpPr>
        <p:spPr>
          <a:xfrm>
            <a:off x="4572000" y="3099816"/>
            <a:ext cx="3035808" cy="731520"/>
          </a:xfrm>
          <a:prstGeom prst="rect">
            <a:avLst/>
          </a:prstGeom>
          <a:noFill/>
        </p:spPr>
        <p:txBody>
          <a:bodyPr wrap="square" lIns="0" rIns="0" tIns="0" bIns="0">
            <a:spAutoFit/>
          </a:bodyPr>
          <a:lstStyle/>
          <a:p>
            <a:pPr>
              <a:spcAft>
                <a:spcPts val="800"/>
              </a:spcAft>
              <a:defRPr sz="2400" b="1">
                <a:solidFill>
                  <a:srgbClr val="112F40"/>
                </a:solidFill>
                <a:latin typeface="Arial"/>
              </a:defRPr>
            </a:pPr>
            <a:r>
              <a:t>Domain validation</a:t>
            </a:r>
          </a:p>
        </p:txBody>
      </p:sp>
      <p:sp>
        <p:nvSpPr>
          <p:cNvPr id="16" name="TextBox 15"/>
          <p:cNvSpPr txBox="1"/>
          <p:nvPr/>
        </p:nvSpPr>
        <p:spPr>
          <a:xfrm>
            <a:off x="4572000" y="4023360"/>
            <a:ext cx="3035808" cy="1051560"/>
          </a:xfrm>
          <a:prstGeom prst="rect">
            <a:avLst/>
          </a:prstGeom>
          <a:noFill/>
        </p:spPr>
        <p:txBody>
          <a:bodyPr wrap="square" lIns="0" rIns="0" tIns="0" bIns="0">
            <a:spAutoFit/>
          </a:bodyPr>
          <a:lstStyle/>
          <a:p>
            <a:pPr>
              <a:spcAft>
                <a:spcPts val="800"/>
              </a:spcAft>
              <a:defRPr sz="1800" b="0">
                <a:solidFill>
                  <a:srgbClr val="607781"/>
                </a:solidFill>
                <a:latin typeface="Arial"/>
              </a:defRPr>
            </a:pPr>
            <a:r>
              <a:t>Review rules and Bangla terminology with land and legal specialists.</a:t>
            </a:r>
          </a:p>
        </p:txBody>
      </p:sp>
      <p:sp>
        <p:nvSpPr>
          <p:cNvPr id="17" name="Rounded Rectangle 16"/>
          <p:cNvSpPr/>
          <p:nvPr/>
        </p:nvSpPr>
        <p:spPr>
          <a:xfrm>
            <a:off x="8129016" y="2212848"/>
            <a:ext cx="3474720" cy="306324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39328" y="2468880"/>
            <a:ext cx="1508760"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8" y="2528316"/>
            <a:ext cx="1325880"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PILOT GATE</a:t>
            </a:r>
          </a:p>
        </p:txBody>
      </p:sp>
      <p:sp>
        <p:nvSpPr>
          <p:cNvPr id="20" name="TextBox 19"/>
          <p:cNvSpPr txBox="1"/>
          <p:nvPr/>
        </p:nvSpPr>
        <p:spPr>
          <a:xfrm>
            <a:off x="8339328" y="3099816"/>
            <a:ext cx="3035808" cy="731520"/>
          </a:xfrm>
          <a:prstGeom prst="rect">
            <a:avLst/>
          </a:prstGeom>
          <a:noFill/>
        </p:spPr>
        <p:txBody>
          <a:bodyPr wrap="square" lIns="0" rIns="0" tIns="0" bIns="0">
            <a:spAutoFit/>
          </a:bodyPr>
          <a:lstStyle/>
          <a:p>
            <a:pPr>
              <a:spcAft>
                <a:spcPts val="800"/>
              </a:spcAft>
              <a:defRPr sz="2400" b="1">
                <a:solidFill>
                  <a:srgbClr val="112F40"/>
                </a:solidFill>
                <a:latin typeface="Arial"/>
              </a:defRPr>
            </a:pPr>
            <a:r>
              <a:t>Operational readiness</a:t>
            </a:r>
          </a:p>
        </p:txBody>
      </p:sp>
      <p:sp>
        <p:nvSpPr>
          <p:cNvPr id="21" name="TextBox 20"/>
          <p:cNvSpPr txBox="1"/>
          <p:nvPr/>
        </p:nvSpPr>
        <p:spPr>
          <a:xfrm>
            <a:off x="8339328" y="4023360"/>
            <a:ext cx="3035808" cy="1051560"/>
          </a:xfrm>
          <a:prstGeom prst="rect">
            <a:avLst/>
          </a:prstGeom>
          <a:noFill/>
        </p:spPr>
        <p:txBody>
          <a:bodyPr wrap="square" lIns="0" rIns="0" tIns="0" bIns="0">
            <a:spAutoFit/>
          </a:bodyPr>
          <a:lstStyle/>
          <a:p>
            <a:pPr>
              <a:spcAft>
                <a:spcPts val="800"/>
              </a:spcAft>
              <a:defRPr sz="1800" b="0">
                <a:solidFill>
                  <a:srgbClr val="607781"/>
                </a:solidFill>
                <a:latin typeface="Arial"/>
              </a:defRPr>
            </a:pPr>
            <a:r>
              <a:t>Authorized data, security review, backups and institutional access controls.</a:t>
            </a:r>
          </a:p>
        </p:txBody>
      </p:sp>
      <p:sp>
        <p:nvSpPr>
          <p:cNvPr id="22" name="TextBox 21"/>
          <p:cNvSpPr txBox="1"/>
          <p:nvPr/>
        </p:nvSpPr>
        <p:spPr>
          <a:xfrm>
            <a:off x="685800" y="5623560"/>
            <a:ext cx="10789920" cy="548640"/>
          </a:xfrm>
          <a:prstGeom prst="rect">
            <a:avLst/>
          </a:prstGeom>
          <a:noFill/>
        </p:spPr>
        <p:txBody>
          <a:bodyPr wrap="square" lIns="0" rIns="0" tIns="0" bIns="0">
            <a:spAutoFit/>
          </a:bodyPr>
          <a:lstStyle/>
          <a:p>
            <a:pPr>
              <a:spcAft>
                <a:spcPts val="800"/>
              </a:spcAft>
              <a:defRPr sz="2000" b="1">
                <a:solidFill>
                  <a:srgbClr val="087F73"/>
                </a:solidFill>
                <a:latin typeface="Arial"/>
              </a:defRPr>
            </a:pPr>
            <a:r>
              <a:t>Potential impact: help reviewers identify the exact person, share and source needing attention.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2F40"/>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8DD5C2"/>
                </a:solidFill>
                <a:latin typeface="Arial"/>
              </a:defRPr>
            </a:pPr>
            <a:r>
              <a:t>09 / TEAM &amp; JUDGE ACCESS</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FFFFFF"/>
                </a:solidFill>
                <a:latin typeface="Arial"/>
              </a:defRPr>
            </a:pPr>
            <a:r>
              <a:t>Try the record. Inspect the evidence.</a:t>
            </a:r>
          </a:p>
        </p:txBody>
      </p:sp>
      <p:sp>
        <p:nvSpPr>
          <p:cNvPr id="4" name="Rectangle 3"/>
          <p:cNvSpPr/>
          <p:nvPr/>
        </p:nvSpPr>
        <p:spPr>
          <a:xfrm>
            <a:off x="594360" y="6437376"/>
            <a:ext cx="11000232" cy="10972"/>
          </a:xfrm>
          <a:prstGeom prst="rect">
            <a:avLst/>
          </a:prstGeom>
          <a:solidFill>
            <a:srgbClr val="36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A5BFC8"/>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A5BFC8"/>
                </a:solidFill>
                <a:latin typeface="Arial"/>
              </a:defRPr>
            </a:pPr>
            <a:r>
              <a:t>10 / 10</a:t>
            </a:r>
          </a:p>
        </p:txBody>
      </p:sp>
      <p:sp>
        <p:nvSpPr>
          <p:cNvPr id="7" name="Rounded Rectangle 6"/>
          <p:cNvSpPr/>
          <p:nvPr/>
        </p:nvSpPr>
        <p:spPr>
          <a:xfrm>
            <a:off x="640080" y="1874519"/>
            <a:ext cx="5303520" cy="1417320"/>
          </a:xfrm>
          <a:prstGeom prst="roundRect">
            <a:avLst>
              <a:gd name="adj" fmla="val 12000"/>
            </a:avLst>
          </a:prstGeom>
          <a:solidFill>
            <a:srgbClr val="204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93976"/>
            <a:ext cx="4800600" cy="411480"/>
          </a:xfrm>
          <a:prstGeom prst="rect">
            <a:avLst/>
          </a:prstGeom>
          <a:noFill/>
        </p:spPr>
        <p:txBody>
          <a:bodyPr wrap="square" lIns="0" rIns="0" tIns="0" bIns="0">
            <a:spAutoFit/>
          </a:bodyPr>
          <a:lstStyle/>
          <a:p>
            <a:pPr>
              <a:spcAft>
                <a:spcPts val="800"/>
              </a:spcAft>
              <a:defRPr sz="2600" b="1">
                <a:solidFill>
                  <a:srgbClr val="FFFFFF"/>
                </a:solidFill>
                <a:latin typeface="Arial"/>
              </a:defRPr>
            </a:pPr>
            <a:r>
              <a:t>Mashfiqur</a:t>
            </a:r>
          </a:p>
        </p:txBody>
      </p:sp>
      <p:sp>
        <p:nvSpPr>
          <p:cNvPr id="9" name="TextBox 8"/>
          <p:cNvSpPr txBox="1"/>
          <p:nvPr/>
        </p:nvSpPr>
        <p:spPr>
          <a:xfrm>
            <a:off x="868680" y="2596896"/>
            <a:ext cx="4800600" cy="256032"/>
          </a:xfrm>
          <a:prstGeom prst="rect">
            <a:avLst/>
          </a:prstGeom>
          <a:noFill/>
        </p:spPr>
        <p:txBody>
          <a:bodyPr wrap="square" lIns="0" rIns="0" tIns="0" bIns="0">
            <a:spAutoFit/>
          </a:bodyPr>
          <a:lstStyle/>
          <a:p>
            <a:pPr>
              <a:spcAft>
                <a:spcPts val="800"/>
              </a:spcAft>
              <a:defRPr sz="1600" b="0">
                <a:solidFill>
                  <a:srgbClr val="8DD5C2"/>
                </a:solidFill>
                <a:latin typeface="Arial"/>
              </a:defRPr>
            </a:pPr>
            <a:r>
              <a:t>DIU ID 242-15-532</a:t>
            </a:r>
          </a:p>
        </p:txBody>
      </p:sp>
      <p:sp>
        <p:nvSpPr>
          <p:cNvPr id="10" name="TextBox 9"/>
          <p:cNvSpPr txBox="1"/>
          <p:nvPr/>
        </p:nvSpPr>
        <p:spPr>
          <a:xfrm>
            <a:off x="868680" y="2962656"/>
            <a:ext cx="4800600" cy="210312"/>
          </a:xfrm>
          <a:prstGeom prst="rect">
            <a:avLst/>
          </a:prstGeom>
          <a:noFill/>
        </p:spPr>
        <p:txBody>
          <a:bodyPr wrap="square" lIns="0" rIns="0" tIns="0" bIns="0">
            <a:spAutoFit/>
          </a:bodyPr>
          <a:lstStyle/>
          <a:p>
            <a:pPr>
              <a:spcAft>
                <a:spcPts val="800"/>
              </a:spcAft>
              <a:defRPr sz="1300" b="0">
                <a:solidFill>
                  <a:srgbClr val="C5D9DF"/>
                </a:solidFill>
                <a:latin typeface="Arial"/>
              </a:defRPr>
            </a:pPr>
            <a:r>
              <a:t>Engine, data model and tests</a:t>
            </a:r>
          </a:p>
        </p:txBody>
      </p:sp>
      <p:sp>
        <p:nvSpPr>
          <p:cNvPr id="11" name="Rounded Rectangle 10"/>
          <p:cNvSpPr/>
          <p:nvPr/>
        </p:nvSpPr>
        <p:spPr>
          <a:xfrm>
            <a:off x="6217920" y="1874519"/>
            <a:ext cx="5303520" cy="1417320"/>
          </a:xfrm>
          <a:prstGeom prst="roundRect">
            <a:avLst>
              <a:gd name="adj" fmla="val 12000"/>
            </a:avLst>
          </a:prstGeom>
          <a:solidFill>
            <a:srgbClr val="204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93976"/>
            <a:ext cx="4800600" cy="411480"/>
          </a:xfrm>
          <a:prstGeom prst="rect">
            <a:avLst/>
          </a:prstGeom>
          <a:noFill/>
        </p:spPr>
        <p:txBody>
          <a:bodyPr wrap="square" lIns="0" rIns="0" tIns="0" bIns="0">
            <a:spAutoFit/>
          </a:bodyPr>
          <a:lstStyle/>
          <a:p>
            <a:pPr>
              <a:spcAft>
                <a:spcPts val="800"/>
              </a:spcAft>
              <a:defRPr sz="2600" b="1">
                <a:solidFill>
                  <a:srgbClr val="FFFFFF"/>
                </a:solidFill>
                <a:latin typeface="Arial"/>
              </a:defRPr>
            </a:pPr>
            <a:r>
              <a:t>Pronway</a:t>
            </a:r>
          </a:p>
        </p:txBody>
      </p:sp>
      <p:sp>
        <p:nvSpPr>
          <p:cNvPr id="13" name="TextBox 12"/>
          <p:cNvSpPr txBox="1"/>
          <p:nvPr/>
        </p:nvSpPr>
        <p:spPr>
          <a:xfrm>
            <a:off x="6446520" y="2596896"/>
            <a:ext cx="4800600" cy="256032"/>
          </a:xfrm>
          <a:prstGeom prst="rect">
            <a:avLst/>
          </a:prstGeom>
          <a:noFill/>
        </p:spPr>
        <p:txBody>
          <a:bodyPr wrap="square" lIns="0" rIns="0" tIns="0" bIns="0">
            <a:spAutoFit/>
          </a:bodyPr>
          <a:lstStyle/>
          <a:p>
            <a:pPr>
              <a:spcAft>
                <a:spcPts val="800"/>
              </a:spcAft>
              <a:defRPr sz="1600" b="0">
                <a:solidFill>
                  <a:srgbClr val="8DD5C2"/>
                </a:solidFill>
                <a:latin typeface="Arial"/>
              </a:defRPr>
            </a:pPr>
            <a:r>
              <a:t>DIU ID 242-15-335</a:t>
            </a:r>
          </a:p>
        </p:txBody>
      </p:sp>
      <p:sp>
        <p:nvSpPr>
          <p:cNvPr id="14" name="TextBox 13"/>
          <p:cNvSpPr txBox="1"/>
          <p:nvPr/>
        </p:nvSpPr>
        <p:spPr>
          <a:xfrm>
            <a:off x="6446520" y="2962656"/>
            <a:ext cx="4800600" cy="210312"/>
          </a:xfrm>
          <a:prstGeom prst="rect">
            <a:avLst/>
          </a:prstGeom>
          <a:noFill/>
        </p:spPr>
        <p:txBody>
          <a:bodyPr wrap="square" lIns="0" rIns="0" tIns="0" bIns="0">
            <a:spAutoFit/>
          </a:bodyPr>
          <a:lstStyle/>
          <a:p>
            <a:pPr>
              <a:spcAft>
                <a:spcPts val="800"/>
              </a:spcAft>
              <a:defRPr sz="1300" b="0">
                <a:solidFill>
                  <a:srgbClr val="C5D9DF"/>
                </a:solidFill>
                <a:latin typeface="Arial"/>
              </a:defRPr>
            </a:pPr>
            <a:r>
              <a:t>Interface, API and demonstration</a:t>
            </a:r>
          </a:p>
        </p:txBody>
      </p:sp>
      <p:sp>
        <p:nvSpPr>
          <p:cNvPr id="15" name="TextBox 14">
            <a:hlinkClick r:id="rId2"/>
          </p:cNvPr>
          <p:cNvSpPr txBox="1"/>
          <p:nvPr/>
        </p:nvSpPr>
        <p:spPr>
          <a:xfrm>
            <a:off x="704088" y="3657600"/>
            <a:ext cx="10789920" cy="457200"/>
          </a:xfrm>
          <a:prstGeom prst="rect">
            <a:avLst/>
          </a:prstGeom>
          <a:noFill/>
        </p:spPr>
        <p:txBody>
          <a:bodyPr wrap="square" lIns="0" rIns="0" tIns="0" bIns="0">
            <a:spAutoFit/>
          </a:bodyPr>
          <a:lstStyle/>
          <a:p>
            <a:pPr>
              <a:spcAft>
                <a:spcPts val="800"/>
              </a:spcAft>
              <a:defRPr sz="2800" b="1">
                <a:solidFill>
                  <a:srgbClr val="8DD5C2"/>
                </a:solidFill>
                <a:latin typeface="Arial"/>
              </a:defRPr>
            </a:pPr>
            <a:r>
              <a:t>bhumi.diu.my.id</a:t>
            </a:r>
          </a:p>
        </p:txBody>
      </p:sp>
      <p:sp>
        <p:nvSpPr>
          <p:cNvPr id="16" name="TextBox 15"/>
          <p:cNvSpPr txBox="1"/>
          <p:nvPr/>
        </p:nvSpPr>
        <p:spPr>
          <a:xfrm>
            <a:off x="704088" y="4279392"/>
            <a:ext cx="10789920" cy="594360"/>
          </a:xfrm>
          <a:prstGeom prst="rect">
            <a:avLst/>
          </a:prstGeom>
          <a:noFill/>
        </p:spPr>
        <p:txBody>
          <a:bodyPr wrap="square" lIns="0" rIns="0" tIns="0" bIns="0">
            <a:spAutoFit/>
          </a:bodyPr>
          <a:lstStyle/>
          <a:p>
            <a:pPr>
              <a:spcAft>
                <a:spcPts val="800"/>
              </a:spcAft>
              <a:defRPr sz="1800" b="0">
                <a:solidFill>
                  <a:srgbClr val="FFFFFF"/>
                </a:solidFill>
                <a:latin typeface="Arial"/>
              </a:defRPr>
            </a:pPr>
            <a:r>
              <a:t>Click “Enter judge demo” or use the public credentials:</a:t>
            </a:r>
          </a:p>
          <a:p>
            <a:pPr>
              <a:spcAft>
                <a:spcPts val="800"/>
              </a:spcAft>
              <a:defRPr sz="1800" b="0">
                <a:solidFill>
                  <a:srgbClr val="FFFFFF"/>
                </a:solidFill>
                <a:latin typeface="Arial"/>
              </a:defRPr>
            </a:pPr>
            <a:r>
              <a:t>judge@bhumi.demo  /  BhuMi-Judge-Demo-2026!</a:t>
            </a:r>
          </a:p>
        </p:txBody>
      </p:sp>
      <p:sp>
        <p:nvSpPr>
          <p:cNvPr id="17" name="TextBox 16">
            <a:hlinkClick r:id="rId3"/>
          </p:cNvPr>
          <p:cNvSpPr txBox="1"/>
          <p:nvPr/>
        </p:nvSpPr>
        <p:spPr>
          <a:xfrm>
            <a:off x="704088" y="5193792"/>
            <a:ext cx="10789920" cy="365760"/>
          </a:xfrm>
          <a:prstGeom prst="rect">
            <a:avLst/>
          </a:prstGeom>
          <a:noFill/>
        </p:spPr>
        <p:txBody>
          <a:bodyPr wrap="square" lIns="0" rIns="0" tIns="0" bIns="0">
            <a:spAutoFit/>
          </a:bodyPr>
          <a:lstStyle/>
          <a:p>
            <a:pPr>
              <a:spcAft>
                <a:spcPts val="800"/>
              </a:spcAft>
              <a:defRPr sz="1800" b="0">
                <a:solidFill>
                  <a:srgbClr val="8DD5C2"/>
                </a:solidFill>
                <a:latin typeface="Arial"/>
              </a:defRPr>
            </a:pPr>
            <a:r>
              <a:t>github.com/void-pronway/BhuMi-Land-Reconciliation</a:t>
            </a:r>
          </a:p>
        </p:txBody>
      </p:sp>
      <p:sp>
        <p:nvSpPr>
          <p:cNvPr id="18" name="TextBox 17"/>
          <p:cNvSpPr txBox="1"/>
          <p:nvPr/>
        </p:nvSpPr>
        <p:spPr>
          <a:xfrm>
            <a:off x="704088" y="5696712"/>
            <a:ext cx="10789920" cy="237744"/>
          </a:xfrm>
          <a:prstGeom prst="rect">
            <a:avLst/>
          </a:prstGeom>
          <a:noFill/>
        </p:spPr>
        <p:txBody>
          <a:bodyPr wrap="square" lIns="0" rIns="0" tIns="0" bIns="0">
            <a:spAutoFit/>
          </a:bodyPr>
          <a:lstStyle/>
          <a:p>
            <a:pPr>
              <a:spcAft>
                <a:spcPts val="800"/>
              </a:spcAft>
              <a:defRPr sz="1400" b="0">
                <a:solidFill>
                  <a:srgbClr val="C5D9DF"/>
                </a:solidFill>
                <a:latin typeface="Arial"/>
              </a:defRPr>
            </a:pPr>
            <a:r>
              <a:t>Shared fictional records only. Do not enter personal information.</a:t>
            </a:r>
          </a:p>
        </p:txBody>
      </p:sp>
      <p:sp>
        <p:nvSpPr>
          <p:cNvPr id="19" name="TextBox 18"/>
          <p:cNvSpPr txBox="1"/>
          <p:nvPr/>
        </p:nvSpPr>
        <p:spPr>
          <a:xfrm>
            <a:off x="704088" y="6080760"/>
            <a:ext cx="10789920" cy="182880"/>
          </a:xfrm>
          <a:prstGeom prst="rect">
            <a:avLst/>
          </a:prstGeom>
          <a:noFill/>
        </p:spPr>
        <p:txBody>
          <a:bodyPr wrap="square" lIns="0" rIns="0" tIns="0" bIns="0">
            <a:spAutoFit/>
          </a:bodyPr>
          <a:lstStyle/>
          <a:p>
            <a:pPr>
              <a:spcAft>
                <a:spcPts val="800"/>
              </a:spcAft>
              <a:defRPr sz="1000" b="0">
                <a:solidFill>
                  <a:srgbClr val="A5BFC8"/>
                </a:solidFill>
                <a:latin typeface="Arial"/>
              </a:defRPr>
            </a:pPr>
            <a:r>
              <a:t>AI-assisted development: OpenAI ChatGPT and Codex • Team review and ownership remain essential.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BhuMi — Rebuilt Full-Stack Prototype</dc:title>
  <dc:subject>LandTech 2026 • P4 • Updated bilingual product pitch</dc:subject>
  <dc:creator>Team BhuMi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